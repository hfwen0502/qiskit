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Qiskit/qiskit/pull/16157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Smarter Loop Exit for Level 2 Optimization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Replace </a:t>
            </a:r>
            <a:r>
              <a:rPr b="1">
                <a:latin typeface="Courier"/>
              </a:rPr>
              <a:t>FixedPoint</a:t>
            </a:r>
            <a:r>
              <a:rPr b="1"/>
              <a:t> with three opportunity-producing signals</a:t>
            </a:r>
          </a:p>
          <a:p>
            <a:pPr lvl="0" indent="0" marL="0">
              <a:buNone/>
            </a:pPr>
            <a:r>
              <a:rPr/>
              <a:t>Sophia Wen — IBM Quantum</a:t>
            </a:r>
          </a:p>
          <a:p>
            <a:pPr lvl="0" indent="0" marL="0">
              <a:buNone/>
            </a:pPr>
            <a:r>
              <a:rPr/>
              <a:t>PR: </a:t>
            </a:r>
            <a:r>
              <a:rPr>
                <a:hlinkClick r:id="rId2"/>
              </a:rPr>
              <a:t>qiskit#16157</a:t>
            </a:r>
            <a:r>
              <a:rPr/>
              <a:t> Branch: </a:t>
            </a:r>
            <a:r>
              <a:rPr>
                <a:latin typeface="Courier"/>
              </a:rPr>
              <a:t>pass-manager-investigation</a:t>
            </a:r>
            <a:r>
              <a:rPr/>
              <a:t> on </a:t>
            </a:r>
            <a:r>
              <a:rPr>
                <a:latin typeface="Courier"/>
              </a:rPr>
              <a:t>hfwen0502/qiskit</a:t>
            </a:r>
          </a:p>
          <a:p>
            <a:pPr lvl="0" indent="0" marL="0">
              <a:buNone/>
            </a:pPr>
            <a:r>
              <a:rPr i="1"/>
              <a:t>Scope: Level 2 optimization loop only. Level 3 unchanged.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in the transpiler?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Input circuit (abstract)
    │
    ▼  1. INIT          — high-level optimization on abstract circuit
    ▼  2. LAYOUT        — virtual → physical qubit mapping
    ▼  3. ROUTING       — insert SWAPs to satisfy connectivity
    ▼  4. TRANSLATION   — convert to hardware basis gates
    ▼  5. OPTIMIZATION  ← we are here   (a loop of passes)
    ▼  6. SCHEDULING    — timing / delays
    ▼
Output circuit (hardware-ready)</a:t>
            </a:r>
          </a:p>
          <a:p>
            <a:pPr lvl="0" indent="0" marL="0">
              <a:buNone/>
            </a:pPr>
            <a:r>
              <a:rPr/>
              <a:t>We change </a:t>
            </a:r>
            <a:r>
              <a:rPr b="1"/>
              <a:t>only stage 5</a:t>
            </a:r>
            <a:r>
              <a:rPr/>
              <a:t>, and only at </a:t>
            </a:r>
            <a:r>
              <a:rPr b="1"/>
              <a:t>optimization level 2</a:t>
            </a:r>
            <a:r>
              <a:rPr/>
              <a:t>. Stages 1–4, 6, and Level-3 stage 5 are untouched.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Level 2 optimization stage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After routing + translation, the circuit is hardware-legal but messy:</a:t>
            </a:r>
          </a:p>
          <a:p>
            <a:pPr lvl="0"/>
            <a:r>
              <a:rPr/>
              <a:t>Routing inserted SWAPs that may now be redundant after gate cancellations.</a:t>
            </a:r>
          </a:p>
          <a:p>
            <a:pPr lvl="0"/>
            <a:r>
              <a:rPr/>
              <a:t>Translation rewrote abstract gates as basis-gate sequences that may simplify.</a:t>
            </a:r>
          </a:p>
          <a:p>
            <a:pPr lvl="0"/>
            <a:r>
              <a:rPr/>
              <a:t>Local 1Q runs created by both stages can often be combined into shorter sequences.</a:t>
            </a:r>
          </a:p>
          <a:p>
            <a:pPr lvl="0" indent="0" marL="0">
              <a:buNone/>
            </a:pPr>
            <a:r>
              <a:rPr/>
              <a:t>The optimization stage is a </a:t>
            </a:r>
            <a:r>
              <a:rPr b="1"/>
              <a:t>loop of passes</a:t>
            </a:r>
            <a:r>
              <a:rPr/>
              <a:t> that simplify gate by gate:</a:t>
            </a:r>
          </a:p>
          <a:p>
            <a:pPr lvl="0"/>
            <a:r>
              <a:rPr/>
              <a:t>Each pass scans the DAG and rewrites local patterns.</a:t>
            </a:r>
          </a:p>
          <a:p>
            <a:pPr lvl="0"/>
            <a:r>
              <a:rPr/>
              <a:t>Some passes create new opportunities for others (e.g., removing a 2Q gate exposes a longer 1Q run that the next 1Q pass can recombine).</a:t>
            </a:r>
          </a:p>
          <a:p>
            <a:pPr lvl="0"/>
            <a:r>
              <a:rPr/>
              <a:t>The loop repeats until no more progress is possible — a </a:t>
            </a:r>
            <a:r>
              <a:rPr b="1"/>
              <a:t>convergence check</a:t>
            </a:r>
            <a:r>
              <a:rPr/>
              <a:t> decides when to stop.</a:t>
            </a:r>
          </a:p>
          <a:p>
            <a:pPr lvl="0" indent="0" marL="0">
              <a:buNone/>
            </a:pPr>
            <a:r>
              <a:rPr/>
              <a:t>The convergence check is what this PR changes.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Level 2 optimization pipeline (the loop body)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iteration runs these passes, in order:</a:t>
            </a:r>
          </a:p>
          <a:p>
            <a:pPr lvl="0" indent="0">
              <a:buNone/>
            </a:pPr>
            <a:r>
              <a:rPr>
                <a:latin typeface="Courier"/>
              </a:rPr>
              <a:t>Optimize1qGatesDecomposition
CommutativeInverseCancellation       (also runs in init)
RemoveIdentityEquivalent
ConsolidateBlocks                    (idle-wire contraction here, not block synthesis)
CommutativeCancellation
GatesInBasis  ──┐
                │  if False: BasisTranslator → Optimize1qGatesDecomposition
                ▼
Convergence check  ──── re-run loop / exit</a:t>
            </a:r>
          </a:p>
          <a:p>
            <a:pPr lvl="0" indent="0" marL="0">
              <a:buNone/>
            </a:pPr>
            <a:r>
              <a:rPr/>
              <a:t>Today’s check: </a:t>
            </a:r>
            <a:r>
              <a:rPr b="1">
                <a:latin typeface="Courier"/>
              </a:rPr>
              <a:t>FixedPoint("depth", "size")</a:t>
            </a:r>
            <a:r>
              <a:rPr/>
              <a:t> — keeps re-running the loop until both metrics are unchanged for a full iteration.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 1 — </a:t>
            </a:r>
            <a:r>
              <a:rPr>
                <a:latin typeface="Courier"/>
              </a:rPr>
              <a:t>Optimize1qGatesDecomposition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Combines runs of consecutive 1Q gates on the same qubit into a single canonical Euler decomposition, choosing the form with the </a:t>
            </a:r>
            <a:r>
              <a:rPr b="1"/>
              <a:t>fewest gates</a:t>
            </a:r>
            <a:r>
              <a:rPr/>
              <a:t> (or lowest error). Always rebuilds the run; idempotent on stable input.</a:t>
            </a:r>
          </a:p>
          <a:p>
            <a:pPr lvl="0" indent="0">
              <a:buNone/>
            </a:pPr>
            <a:r>
              <a:rPr>
                <a:latin typeface="Courier"/>
              </a:rPr>
              <a:t>Before                      After (target basis: sx, x, rz)
q0 ──H──S──RZ(π/4)──         q0 ──RZ──SX──RZ──
       (3 gates)                  (3 gates, but only physical SX once)
q0 ──H──H──                  q0 ──            (cancels to identity)
       (2 gates)</a:t>
            </a:r>
          </a:p>
          <a:p>
            <a:pPr lvl="0" indent="0" marL="0">
              <a:buNone/>
            </a:pPr>
            <a:r>
              <a:rPr b="1"/>
              <a:t>Key property</a:t>
            </a:r>
            <a:r>
              <a:rPr/>
              <a:t>: stateless across calls. Given the same input run, it produces the same canonical output. Re-running it without changing the runs around it cannot find new optimizations.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 2 — </a:t>
            </a:r>
            <a:r>
              <a:rPr>
                <a:latin typeface="Courier"/>
              </a:rPr>
              <a:t>CommutativeInverseCancellation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Removes adjacent inverse pairs of gates: </a:t>
            </a:r>
            <a:r>
              <a:rPr>
                <a:latin typeface="Courier"/>
              </a:rPr>
              <a:t>H·H</a:t>
            </a:r>
            <a:r>
              <a:rPr/>
              <a:t>, </a:t>
            </a:r>
            <a:r>
              <a:rPr>
                <a:latin typeface="Courier"/>
              </a:rPr>
              <a:t>X·X</a:t>
            </a:r>
            <a:r>
              <a:rPr/>
              <a:t>, </a:t>
            </a:r>
            <a:r>
              <a:rPr>
                <a:latin typeface="Courier"/>
              </a:rPr>
              <a:t>CX·CX</a:t>
            </a:r>
            <a:r>
              <a:rPr/>
              <a:t>, </a:t>
            </a:r>
            <a:r>
              <a:rPr>
                <a:latin typeface="Courier"/>
              </a:rPr>
              <a:t>S·Sdg</a:t>
            </a:r>
            <a:r>
              <a:rPr/>
              <a:t>, etc. Runs in </a:t>
            </a:r>
            <a:r>
              <a:rPr b="1"/>
              <a:t>init</a:t>
            </a:r>
            <a:r>
              <a:rPr/>
              <a:t> as well as in the L2 loop.</a:t>
            </a:r>
          </a:p>
          <a:p>
            <a:pPr lvl="0" indent="0">
              <a:buNone/>
            </a:pPr>
            <a:r>
              <a:rPr>
                <a:latin typeface="Courier"/>
              </a:rPr>
              <a:t>Before                       After
q0 ──H──H──●──               q0 ──●──
            │                       │
q1 ─────────⊕──CX──⊕──       q1 ───⊕──
                              (CX·CX cancelled)</a:t>
            </a:r>
          </a:p>
          <a:p>
            <a:pPr lvl="0" indent="0" marL="0">
              <a:buNone/>
            </a:pPr>
            <a:r>
              <a:rPr b="1"/>
              <a:t>Effect</a:t>
            </a:r>
            <a:r>
              <a:rPr/>
              <a:t>: removes pairs but doesn’t create new pairs. Re-running on a DAG it just simplified produces the same DAG.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 3 — </a:t>
            </a:r>
            <a:r>
              <a:rPr>
                <a:latin typeface="Courier"/>
              </a:rPr>
              <a:t>RemoveIdentityEquivalent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Removes gates whose effect is approximately identity within an error threshold (e.g., </a:t>
            </a:r>
            <a:r>
              <a:rPr>
                <a:latin typeface="Courier"/>
              </a:rPr>
              <a:t>RZ(θ)</a:t>
            </a:r>
            <a:r>
              <a:rPr/>
              <a:t> with </a:t>
            </a:r>
            <a:r>
              <a:rPr>
                <a:latin typeface="Courier"/>
              </a:rPr>
              <a:t>θ ≈ 0</a:t>
            </a:r>
            <a:r>
              <a:rPr/>
              <a:t>, or 2Q rotations close to 0/2π).</a:t>
            </a:r>
          </a:p>
          <a:p>
            <a:pPr lvl="0" indent="0">
              <a:buNone/>
            </a:pPr>
            <a:r>
              <a:rPr>
                <a:latin typeface="Courier"/>
              </a:rPr>
              <a:t>Before                        After
q0 ──RZ(1e-9)──RX(2π)──       q0 ──            (both ≈ I)
q0 ──●──                       q0 ──            (RZZ(2π) ≈ I, both qubits idle)
     │RZZ(2π)
q1 ──●──                       q1 ──</a:t>
            </a:r>
          </a:p>
          <a:p>
            <a:pPr lvl="0" indent="0" marL="0">
              <a:buNone/>
            </a:pPr>
            <a:r>
              <a:rPr b="1"/>
              <a:t>Important for our work</a:t>
            </a:r>
            <a:r>
              <a:rPr/>
              <a:t>: when this pass removes a </a:t>
            </a:r>
            <a:r>
              <a:rPr b="1"/>
              <a:t>multi-qubit</a:t>
            </a:r>
            <a:r>
              <a:rPr/>
              <a:t> identity gate, two 1Q runs on either side merge into one — that’s a new optimization opportunity for </a:t>
            </a:r>
            <a:r>
              <a:rPr>
                <a:latin typeface="Courier"/>
              </a:rPr>
              <a:t>Optimize1qGatesDecomposition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 4 — </a:t>
            </a:r>
            <a:r>
              <a:rPr>
                <a:latin typeface="Courier"/>
              </a:rPr>
              <a:t>ConsolidateBlocks</a:t>
            </a:r>
            <a:r>
              <a:rPr/>
              <a:t> (idle-wire contraction)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L2 loop, this is the </a:t>
            </a:r>
            <a:r>
              <a:rPr b="1"/>
              <a:t>idle-wire contraction</a:t>
            </a:r>
            <a:r>
              <a:rPr/>
              <a:t> form: collapses adjacent blocks of gates that act on the same qubits, removing unnecessary structure. The “block synthesis” form runs earlier.</a:t>
            </a:r>
          </a:p>
          <a:p>
            <a:pPr lvl="0" indent="0">
              <a:buNone/>
            </a:pPr>
            <a:r>
              <a:rPr>
                <a:latin typeface="Courier"/>
              </a:rPr>
              <a:t>Before                              After
q0 ──[block A]──[block B]──         q0 ──[A∘B fused]──
       │           │                       │
q1 ────●───────────●─────           q1 ────●──────────</a:t>
            </a:r>
          </a:p>
          <a:p>
            <a:pPr lvl="0" indent="0" marL="0">
              <a:buNone/>
            </a:pPr>
            <a:r>
              <a:rPr/>
              <a:t>Effect on us: rarely produces new opportunities by itself, but prepares the DAG for </a:t>
            </a:r>
            <a:r>
              <a:rPr>
                <a:latin typeface="Courier"/>
              </a:rPr>
              <a:t>CommutativeCancellation</a:t>
            </a:r>
            <a:r>
              <a:rPr/>
              <a:t> to find them.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 5 — </a:t>
            </a:r>
            <a:r>
              <a:rPr>
                <a:latin typeface="Courier"/>
              </a:rPr>
              <a:t>CommutativeCancellation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effects:</a:t>
            </a:r>
          </a:p>
          <a:p>
            <a:pPr lvl="0" indent="0" marL="0">
              <a:buNone/>
            </a:pPr>
            <a:r>
              <a:rPr b="1"/>
              <a:t>(a) Cancels gates across commutation boundaries.</a:t>
            </a:r>
            <a:r>
              <a:rPr/>
              <a:t> A gate on a qubit can be moved past commuting gates to find a partner to cancel with.</a:t>
            </a:r>
          </a:p>
          <a:p>
            <a:pPr lvl="0" indent="0">
              <a:buNone/>
            </a:pPr>
            <a:r>
              <a:rPr>
                <a:latin typeface="Courier"/>
              </a:rPr>
              <a:t>Before                              After
q0 ──H──Z──H──         q0 ──X──         (HZH = X)
q0 ──RZ(π/4)──●──RZ(-π/4)──   q0 ──●──
              │                       │
q1 ───────────⊕────────       q1 ────⊕──
        (RZs commute past CX, cancel)</a:t>
            </a:r>
          </a:p>
          <a:p>
            <a:pPr lvl="0" indent="0" marL="0">
              <a:buNone/>
            </a:pPr>
            <a:r>
              <a:rPr b="1"/>
              <a:t>(b) Consolidates same-axis rotations.</a:t>
            </a:r>
            <a:r>
              <a:rPr/>
              <a:t> </a:t>
            </a:r>
            <a:r>
              <a:rPr>
                <a:latin typeface="Courier"/>
              </a:rPr>
              <a:t>RZ(a) · RZ(b)</a:t>
            </a:r>
            <a:r>
              <a:rPr/>
              <a:t> → </a:t>
            </a:r>
            <a:r>
              <a:rPr>
                <a:latin typeface="Courier"/>
              </a:rPr>
              <a:t>RZ(a+b)</a:t>
            </a:r>
            <a:r>
              <a:rPr/>
              <a:t>; same for RX. The merged angle may end up out-of-basis (triggers Signal 3, see later) or zero (then identity-removed next pass).</a:t>
            </a:r>
          </a:p>
          <a:p>
            <a:pPr lvl="0" indent="0" marL="0">
              <a:buNone/>
            </a:pPr>
            <a:r>
              <a:rPr/>
              <a:t>This pass is the </a:t>
            </a:r>
            <a:r>
              <a:rPr b="1"/>
              <a:t>biggest source of new optimization opportunities</a:t>
            </a:r>
            <a:r>
              <a:rPr/>
              <a:t> in the loop.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 6 — </a:t>
            </a:r>
            <a:r>
              <a:rPr>
                <a:latin typeface="Courier"/>
              </a:rPr>
              <a:t>GatesInBasis</a:t>
            </a:r>
            <a:r>
              <a:rPr/>
              <a:t> → </a:t>
            </a:r>
            <a:r>
              <a:rPr>
                <a:latin typeface="Courier"/>
              </a:rPr>
              <a:t>BasisTranslator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GatesInBasis</a:t>
            </a:r>
            <a:r>
              <a:rPr/>
              <a:t> is an analysis pass: it sets a property </a:t>
            </a:r>
            <a:r>
              <a:rPr>
                <a:latin typeface="Courier"/>
              </a:rPr>
              <a:t>all_gates_in_basis = True / False</a:t>
            </a:r>
            <a:r>
              <a:rPr/>
              <a:t> based on whether every gate in the DAG is in the target basis.</a:t>
            </a:r>
          </a:p>
          <a:p>
            <a:pPr lvl="0" indent="0" marL="0">
              <a:buNone/>
            </a:pPr>
            <a:r>
              <a:rPr/>
              <a:t>If </a:t>
            </a:r>
            <a:r>
              <a:rPr>
                <a:latin typeface="Courier"/>
              </a:rPr>
              <a:t>False</a:t>
            </a:r>
            <a:r>
              <a:rPr/>
              <a:t>, the loop runs </a:t>
            </a:r>
            <a:r>
              <a:rPr>
                <a:latin typeface="Courier"/>
              </a:rPr>
              <a:t>BasisTranslator</a:t>
            </a:r>
            <a:r>
              <a:rPr/>
              <a:t> to rewrite the offending gates, then </a:t>
            </a:r>
            <a:r>
              <a:rPr>
                <a:latin typeface="Courier"/>
              </a:rPr>
              <a:t>Optimize1qGatesDecomposition</a:t>
            </a:r>
            <a:r>
              <a:rPr/>
              <a:t> to clean up the (typically unoptimized) translation output.</a:t>
            </a:r>
          </a:p>
          <a:p>
            <a:pPr lvl="0" indent="0">
              <a:buNone/>
            </a:pPr>
            <a:r>
              <a:rPr>
                <a:latin typeface="Courier"/>
              </a:rPr>
              <a:t>After CommutativeCancellation merged two RZ rotations, the DAG might
contain RZ(θ) where θ is a value not directly representable in the
target's discrete RZ set.
  basis = [sx, x, rz, cz]                 → all in basis
  basis = [sx, x, rz(π/2), cz, rzz]       → some RZ(θ) need translation</a:t>
            </a:r>
          </a:p>
          <a:p>
            <a:pPr lvl="0" indent="0" marL="0">
              <a:buNone/>
            </a:pPr>
            <a:r>
              <a:rPr/>
              <a:t>This is the </a:t>
            </a:r>
            <a:r>
              <a:rPr b="1"/>
              <a:t>third mechanism</a:t>
            </a:r>
            <a:r>
              <a:rPr/>
              <a:t> by which the loop finds more work to do.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convergence check: </a:t>
            </a:r>
            <a:r>
              <a:rPr>
                <a:latin typeface="Courier"/>
              </a:rPr>
              <a:t>FixedPoint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Stock Qiskit, Level 2:</a:t>
            </a:r>
            <a:br/>
            <a:r>
              <a:rPr>
                <a:latin typeface="Courier"/>
              </a:rPr>
              <a:t>loop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[Optimize1q, CommInvCancel, RemoveIdEquiv,</a:t>
            </a:r>
            <a:br/>
            <a:r>
              <a:rPr>
                <a:latin typeface="Courier"/>
              </a:rPr>
              <a:t>        Consolidate, CommCancel, GatesInBasis, ...]</a:t>
            </a:r>
            <a:br/>
            <a:r>
              <a:rPr>
                <a:latin typeface="Courier"/>
              </a:rPr>
              <a:t>loop_check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FixedPoint(</a:t>
            </a:r>
            <a:r>
              <a:rPr>
                <a:solidFill>
                  <a:srgbClr val="4070A0"/>
                </a:solidFill>
                <a:latin typeface="Courier"/>
              </a:rPr>
              <a:t>"depth"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"size"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do_while_property_set(</a:t>
            </a:r>
            <a:r>
              <a:rPr>
                <a:solidFill>
                  <a:srgbClr val="4070A0"/>
                </a:solidFill>
                <a:latin typeface="Courier"/>
              </a:rPr>
              <a:t>"depth"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"size"</a:t>
            </a:r>
            <a:r>
              <a:rPr>
                <a:latin typeface="Courier"/>
              </a:rPr>
              <a:t>) changes:</a:t>
            </a:r>
            <a:br/>
            <a:r>
              <a:rPr>
                <a:latin typeface="Courier"/>
              </a:rPr>
              <a:t>    run loop</a:t>
            </a:r>
            <a:br/>
            <a:r>
              <a:rPr>
                <a:latin typeface="Courier"/>
              </a:rPr>
              <a:t>    run loop_check        </a:t>
            </a:r>
            <a:r>
              <a:rPr i="1">
                <a:solidFill>
                  <a:srgbClr val="60A0B0"/>
                </a:solidFill>
                <a:latin typeface="Courier"/>
              </a:rPr>
              <a:t># measures depth &amp; size after this iteration</a:t>
            </a:r>
          </a:p>
          <a:p>
            <a:pPr lvl="0" indent="0" marL="0">
              <a:buNone/>
            </a:pPr>
            <a:r>
              <a:rPr/>
              <a:t>Behavior:</a:t>
            </a:r>
          </a:p>
          <a:p>
            <a:pPr lvl="0" indent="-342900" marL="342900">
              <a:buAutoNum type="arabicPeriod"/>
            </a:pPr>
            <a:r>
              <a:rPr/>
              <a:t>Run the full loop, measure (depth, size).</a:t>
            </a:r>
          </a:p>
          <a:p>
            <a:pPr lvl="0" indent="-342900" marL="342900">
              <a:buAutoNum type="arabicPeriod"/>
            </a:pPr>
            <a:r>
              <a:rPr/>
              <a:t>Run it again, measure again. Did either change? If yes → loop.</a:t>
            </a:r>
          </a:p>
          <a:p>
            <a:pPr lvl="0" indent="-342900" marL="342900">
              <a:buAutoNum type="arabicPeriod"/>
            </a:pPr>
            <a:r>
              <a:rPr/>
              <a:t>If both unchanged for a full iteration → exit.</a:t>
            </a:r>
          </a:p>
          <a:p>
            <a:pPr lvl="0" indent="0" marL="0">
              <a:buNone/>
            </a:pPr>
            <a:r>
              <a:rPr b="1"/>
              <a:t>The cost</a:t>
            </a:r>
            <a:r>
              <a:rPr/>
              <a:t>: even after the passes have nothing left to do, FixedPoint forces </a:t>
            </a:r>
            <a:r>
              <a:rPr b="1"/>
              <a:t>one more full iteration</a:t>
            </a:r>
            <a:r>
              <a:rPr/>
              <a:t> just to confirm. On large circuits that confirmation iteration is expensive.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we change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Instead of measuring (depth, size) after the fact, </a:t>
            </a:r>
            <a:r>
              <a:rPr b="1"/>
              <a:t>let the passes themselves report whether they created an opportunity for the next iteration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Three orthogonal boolean signals, set by passes during their normal run: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 by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_opt_pass_changed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multi-qubit gate was removed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RemoveIdentityEquivalent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CommutativeCancellation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_opt_1q_consolidated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Adjacent rotations merged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CommutativeCancellation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all_gates_in_basis == 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Out-of-basis gate produced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GatesInBasis</a:t>
                      </a:r>
                      <a:r>
                        <a:rPr/>
                        <a:t> (already present)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Loop continuation rule</a:t>
            </a:r>
            <a:r>
              <a:rPr/>
              <a:t>: re-iterate iff </a:t>
            </a:r>
            <a:r>
              <a:rPr i="1"/>
              <a:t>any</a:t>
            </a:r>
            <a:r>
              <a:rPr/>
              <a:t> signal fired. If none fired, the next iteration would produce the same DAG — exit immediately.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Signal 1 — multi-qubit gate removed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</a:t>
            </a:r>
            <a:r>
              <a:rPr>
                <a:latin typeface="Courier"/>
              </a:rPr>
              <a:t>RemoveIdentityEquivalent</a:t>
            </a:r>
            <a:r>
              <a:rPr/>
              <a:t> or </a:t>
            </a:r>
            <a:r>
              <a:rPr>
                <a:latin typeface="Courier"/>
              </a:rPr>
              <a:t>CommutativeCancellation</a:t>
            </a:r>
            <a:r>
              <a:rPr/>
              <a:t> deletes a 2Q gate, the 1Q runs on either side merge into a longer one:</a:t>
            </a:r>
          </a:p>
          <a:p>
            <a:pPr lvl="0" indent="0">
              <a:buNone/>
            </a:pPr>
            <a:r>
              <a:rPr>
                <a:latin typeface="Courier"/>
              </a:rPr>
              <a:t>Before pass                      After pass
q0 ──[1Q run a]──●──[1Q run b]── ──→ q0 ──[1Q run a+b]──
                  │ removed
q1 ──...──────────●──...─────── ──→ q1 ──...──────────...</a:t>
            </a:r>
          </a:p>
          <a:p>
            <a:pPr lvl="0" indent="0" marL="0">
              <a:buNone/>
            </a:pPr>
            <a:r>
              <a:rPr/>
              <a:t>The longer run gives </a:t>
            </a:r>
            <a:r>
              <a:rPr>
                <a:latin typeface="Courier"/>
              </a:rPr>
              <a:t>Optimize1qGatesDecomposition</a:t>
            </a:r>
            <a:r>
              <a:rPr/>
              <a:t> new material — the canonical Euler form of </a:t>
            </a:r>
            <a:r>
              <a:rPr>
                <a:latin typeface="Courier"/>
              </a:rPr>
              <a:t>(a+b)</a:t>
            </a:r>
            <a:r>
              <a:rPr/>
              <a:t> may have fewer gates than the canonical forms of </a:t>
            </a:r>
            <a:r>
              <a:rPr>
                <a:latin typeface="Courier"/>
              </a:rPr>
              <a:t>a</a:t>
            </a:r>
            <a:r>
              <a:rPr/>
              <a:t> and </a:t>
            </a:r>
            <a:r>
              <a:rPr>
                <a:latin typeface="Courier"/>
              </a:rPr>
              <a:t>b</a:t>
            </a:r>
            <a:r>
              <a:rPr/>
              <a:t> individually.</a:t>
            </a:r>
          </a:p>
          <a:p>
            <a:pPr lvl="0" indent="0" marL="0">
              <a:buNone/>
            </a:pPr>
            <a:r>
              <a:rPr/>
              <a:t>→ Re-run the loop.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Signal 2 — rotations consolidated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</a:t>
            </a:r>
            <a:r>
              <a:rPr>
                <a:latin typeface="Courier"/>
              </a:rPr>
              <a:t>CommutativeCancellation</a:t>
            </a:r>
            <a:r>
              <a:rPr/>
              <a:t> merges adjacent same-axis rotations:</a:t>
            </a:r>
          </a:p>
          <a:p>
            <a:pPr lvl="0" indent="0">
              <a:buNone/>
            </a:pPr>
            <a:r>
              <a:rPr>
                <a:latin typeface="Courier"/>
              </a:rPr>
              <a:t>Before                              After
q0 ──RZ(α)──[gate that commutes with RZ]──RZ(β)──
                                  ↓
q0 ──[gate]──RZ(α+β)──</a:t>
            </a:r>
          </a:p>
          <a:p>
            <a:pPr lvl="0" indent="0" marL="0">
              <a:buNone/>
            </a:pPr>
            <a:r>
              <a:rPr/>
              <a:t>The 1Q run that contained </a:t>
            </a:r>
            <a:r>
              <a:rPr>
                <a:latin typeface="Courier"/>
              </a:rPr>
              <a:t>RZ(α)</a:t>
            </a:r>
            <a:r>
              <a:rPr/>
              <a:t> and </a:t>
            </a:r>
            <a:r>
              <a:rPr>
                <a:latin typeface="Courier"/>
              </a:rPr>
              <a:t>RZ(β)</a:t>
            </a:r>
            <a:r>
              <a:rPr/>
              <a:t> is now </a:t>
            </a:r>
            <a:r>
              <a:rPr b="1"/>
              <a:t>shorter</a:t>
            </a:r>
            <a:r>
              <a:rPr/>
              <a:t> by one gate. </a:t>
            </a:r>
            <a:r>
              <a:rPr>
                <a:latin typeface="Courier"/>
              </a:rPr>
              <a:t>Optimize1qGatesDecomposition</a:t>
            </a:r>
            <a:r>
              <a:rPr/>
              <a:t> had previously canonicalized the longer form; it can now do better on the shorter one.</a:t>
            </a:r>
          </a:p>
          <a:p>
            <a:pPr lvl="0" indent="0" marL="0">
              <a:buNone/>
            </a:pPr>
            <a:r>
              <a:rPr/>
              <a:t>→ Re-run the loop.</a:t>
            </a:r>
          </a:p>
          <a:p>
            <a:pPr lvl="0" indent="0" marL="0">
              <a:buNone/>
            </a:pPr>
            <a:r>
              <a:rPr/>
              <a:t>(Idempotent: only fires once. The next iteration’s </a:t>
            </a:r>
            <a:r>
              <a:rPr>
                <a:latin typeface="Courier"/>
              </a:rPr>
              <a:t>CommutativeCancellation</a:t>
            </a:r>
            <a:r>
              <a:rPr/>
              <a:t> finds nothing new to merge.)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Signal 3 — out-of-basis gate produced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CommutativeCancellation</a:t>
            </a:r>
            <a:r>
              <a:rPr/>
              <a:t> can produce a gate outside the target basis (typically a non-canonical rotation angle). </a:t>
            </a:r>
            <a:r>
              <a:rPr>
                <a:latin typeface="Courier"/>
              </a:rPr>
              <a:t>GatesInBasis</a:t>
            </a:r>
            <a:r>
              <a:rPr/>
              <a:t> detects this:</a:t>
            </a:r>
          </a:p>
          <a:p>
            <a:pPr lvl="0" indent="0">
              <a:buNone/>
            </a:pPr>
            <a:r>
              <a:rPr>
                <a:latin typeface="Courier"/>
              </a:rPr>
              <a:t>basis = [sx, x, rz, cz]
After CommutativeCancellation:
q0 ──RZ(π/4)──     all_gates_in_basis = True   → done
After CommutativeCancellation (different circuit):
q0 ──S──Sdg──H──   all_gates_in_basis = False  (S, Sdg not in basis)
                    → BasisTranslator runs, emits unoptimized sequence
                    → Optimize1qGatesDecomposition needs another pass</a:t>
            </a:r>
          </a:p>
          <a:p>
            <a:pPr lvl="0" indent="0" marL="0">
              <a:buNone/>
            </a:pPr>
            <a:r>
              <a:rPr/>
              <a:t>→ Re-run the loop.</a:t>
            </a:r>
          </a:p>
          <a:p>
            <a:pPr lvl="0" indent="0" marL="0">
              <a:buNone/>
            </a:pPr>
            <a:r>
              <a:rPr/>
              <a:t>(This signal is the existing </a:t>
            </a:r>
            <a:r>
              <a:rPr>
                <a:latin typeface="Courier"/>
              </a:rPr>
              <a:t>GatesInBasis</a:t>
            </a:r>
            <a:r>
              <a:rPr/>
              <a:t> analysis — no new code needed; it just becomes a loop-exit trigger.)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three signals are sufficient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Inside the L2 loop, a new optimization opportunity for the next iteration can arise </a:t>
            </a:r>
            <a:r>
              <a:rPr b="1"/>
              <a:t>only</a:t>
            </a:r>
            <a:r>
              <a:rPr/>
              <a:t> through one of these three mechanisms:</a:t>
            </a:r>
          </a:p>
          <a:p>
            <a:pPr lvl="0" indent="-342900" marL="342900">
              <a:buAutoNum type="arabicPeriod"/>
            </a:pPr>
            <a:r>
              <a:rPr/>
              <a:t>A multi-qubit gate is removed → 1Q runs on either side merge (Signal 1).</a:t>
            </a:r>
          </a:p>
          <a:p>
            <a:pPr lvl="0" indent="-342900" marL="342900">
              <a:buAutoNum type="arabicPeriod"/>
            </a:pPr>
            <a:r>
              <a:rPr/>
              <a:t>Same-axis rotations collapse → 1Q run shortens (Signal 2).</a:t>
            </a:r>
          </a:p>
          <a:p>
            <a:pPr lvl="0" indent="-342900" marL="342900">
              <a:buAutoNum type="arabicPeriod"/>
            </a:pPr>
            <a:r>
              <a:rPr/>
              <a:t>An out-of-basis gate is produced → BasisTranslator emits an unoptimized sequence (Signal 3).</a:t>
            </a:r>
          </a:p>
          <a:p>
            <a:pPr lvl="0" indent="0" marL="0">
              <a:buNone/>
            </a:pPr>
            <a:r>
              <a:rPr/>
              <a:t>Other passes in the loop (</a:t>
            </a:r>
            <a:r>
              <a:rPr>
                <a:latin typeface="Courier"/>
              </a:rPr>
              <a:t>Optimize1qGatesDecomposition</a:t>
            </a:r>
            <a:r>
              <a:rPr/>
              <a:t>, </a:t>
            </a:r>
            <a:r>
              <a:rPr>
                <a:latin typeface="Courier"/>
              </a:rPr>
              <a:t>CommutativeInverseCancellation</a:t>
            </a:r>
            <a:r>
              <a:rPr/>
              <a:t>, </a:t>
            </a:r>
            <a:r>
              <a:rPr>
                <a:latin typeface="Courier"/>
              </a:rPr>
              <a:t>ConsolidateBlocks</a:t>
            </a:r>
            <a:r>
              <a:rPr/>
              <a:t>) are </a:t>
            </a:r>
            <a:r>
              <a:rPr b="1"/>
              <a:t>stateless on stable input</a:t>
            </a:r>
            <a:r>
              <a:rPr/>
              <a:t>: re-running them without one of the three mechanisms firing produces the same DAG.</a:t>
            </a:r>
          </a:p>
          <a:p>
            <a:pPr lvl="0" indent="0" marL="0">
              <a:buNone/>
            </a:pPr>
            <a:r>
              <a:rPr/>
              <a:t>If none of the three signals fires in an iteration, re-running the loop is </a:t>
            </a:r>
            <a:r>
              <a:rPr b="1"/>
              <a:t>provably a no-op</a:t>
            </a:r>
            <a:r>
              <a:rPr/>
              <a:t> → exit immediately.</a:t>
            </a:r>
          </a:p>
          <a:p>
            <a:pPr lvl="0" indent="0" marL="0">
              <a:buNone/>
            </a:pPr>
            <a:r>
              <a:rPr/>
              <a:t>This is what FixedPoint discovers empirically by running an extra iteration. We discover it directly.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 change footprint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 files, +69 / −11 lines.</a:t>
            </a:r>
            <a:r>
              <a:rPr/>
              <a:t> Level 3 unchanged.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crates/transpiler/src/passes/commutation_cancellation.rs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Returns </a:t>
                      </a:r>
                      <a:r>
                        <a:rPr>
                          <a:latin typeface="Courier"/>
                        </a:rPr>
                        <a:t>(bool, bool)</a:t>
                      </a:r>
                      <a:r>
                        <a:rPr/>
                        <a:t> for Signals 1 + 2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crates/transpiler/src/passes/remove_identity_equiv.rs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Returns </a:t>
                      </a:r>
                      <a:r>
                        <a:rPr>
                          <a:latin typeface="Courier"/>
                        </a:rPr>
                        <a:t>bool</a:t>
                      </a:r>
                      <a:r>
                        <a:rPr/>
                        <a:t> for Signal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crates/transpiler/src/passes/optimize_1q_gates_decomposition.rs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Returns </a:t>
                      </a:r>
                      <a:r>
                        <a:rPr>
                          <a:latin typeface="Courier"/>
                        </a:rPr>
                        <a:t>bool</a:t>
                      </a:r>
                      <a:r>
                        <a:rPr/>
                        <a:t> (informational; not used as signal)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qiskit/transpiler/passes/optimization/commutative_cancellation.py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Sets </a:t>
                      </a:r>
                      <a:r>
                        <a:rPr>
                          <a:latin typeface="Courier"/>
                        </a:rPr>
                        <a:t>_opt_pass_changed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_opt_1q_consolidated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qiskit/transpiler/passes/optimization/remove_identity_equiv.py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Sets </a:t>
                      </a:r>
                      <a:r>
                        <a:rPr>
                          <a:latin typeface="Courier"/>
                        </a:rPr>
                        <a:t>_opt_pass_changed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qiskit/transpiler/preset_passmanagers/builtin_plugins.py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</a:t>
                      </a:r>
                      <a:r>
                        <a:rPr>
                          <a:latin typeface="Courier"/>
                        </a:rPr>
                        <a:t>_optimization_check_changed_flag()</a:t>
                      </a:r>
                      <a:r>
                        <a:rPr/>
                        <a:t> replaces </a:t>
                      </a:r>
                      <a:r>
                        <a:rPr>
                          <a:latin typeface="Courier"/>
                        </a:rPr>
                        <a:t>FixedPoint</a:t>
                      </a:r>
                      <a:r>
                        <a:rPr/>
                        <a:t> at L2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Signal 3 reuses the existing </a:t>
            </a:r>
            <a:r>
              <a:rPr>
                <a:latin typeface="Courier"/>
              </a:rPr>
              <a:t>GatesInBasis</a:t>
            </a:r>
            <a:r>
              <a:rPr/>
              <a:t> analysis; no new code.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 for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Suite</a:t>
            </a:r>
            <a:r>
              <a:rPr/>
              <a:t>: full </a:t>
            </a:r>
            <a:r>
              <a:rPr>
                <a:latin typeface="Courier"/>
              </a:rPr>
              <a:t>benchpress/qiskit_gym/</a:t>
            </a:r>
            <a:r>
              <a:rPr/>
              <a:t> transpile suite at </a:t>
            </a:r>
            <a:r>
              <a:rPr>
                <a:latin typeface="Courier"/>
              </a:rPr>
              <a:t>optimization_level=2</a:t>
            </a:r>
            <a:r>
              <a:rPr/>
              <a:t>, </a:t>
            </a:r>
            <a:r>
              <a:rPr b="1"/>
              <a:t>1,023 circuits</a:t>
            </a:r>
            <a:r>
              <a:rPr/>
              <a:t> across 6 groups.</a:t>
            </a:r>
          </a:p>
          <a:p>
            <a:pPr lvl="0"/>
            <a:r>
              <a:rPr b="1"/>
              <a:t>Builds</a:t>
            </a:r>
            <a:r>
              <a:rPr/>
              <a:t>: Qiskit main </a:t>
            </a:r>
            <a:r>
              <a:rPr>
                <a:latin typeface="Courier"/>
              </a:rPr>
              <a:t>c25216340</a:t>
            </a:r>
            <a:r>
              <a:rPr/>
              <a:t> vs PR </a:t>
            </a:r>
            <a:r>
              <a:rPr>
                <a:latin typeface="Courier"/>
              </a:rPr>
              <a:t>5e077757e</a:t>
            </a:r>
            <a:r>
              <a:rPr/>
              <a:t> (rebased onto main), both release + mimalloc.</a:t>
            </a:r>
          </a:p>
          <a:p>
            <a:pPr lvl="0"/>
            <a:r>
              <a:rPr b="1"/>
              <a:t>Seed</a:t>
            </a:r>
            <a:r>
              <a:rPr/>
              <a:t>: </a:t>
            </a:r>
            <a:r>
              <a:rPr>
                <a:latin typeface="Courier"/>
              </a:rPr>
              <a:t>QISKIT_TRANSPILER_SEED=1</a:t>
            </a:r>
            <a:r>
              <a:rPr/>
              <a:t>. (</a:t>
            </a:r>
            <a:r>
              <a:rPr>
                <a:latin typeface="Courier"/>
              </a:rPr>
              <a:t>=42</a:t>
            </a:r>
            <a:r>
              <a:rPr/>
              <a:t> would resolve to 1 anyway due to a separate upstream walrus-precedence bug.)</a:t>
            </a:r>
          </a:p>
          <a:p>
            <a:pPr lvl="0"/>
            <a:r>
              <a:rPr b="1"/>
              <a:t>Hardware</a:t>
            </a:r>
            <a:r>
              <a:rPr/>
              <a:t>: 2-socket Intel SPR (40c × 2 threads each socket). Main on NUMA 0, PR on NUMA 1, parallel. NUMA sweep validated single- socket pinning is within 1.7% of full-machine on hwb12.</a:t>
            </a:r>
          </a:p>
          <a:p>
            <a:pPr lvl="0"/>
            <a:r>
              <a:rPr b="1"/>
              <a:t>Benchpress patch</a:t>
            </a:r>
            <a:r>
              <a:rPr/>
              <a:t>: 2-line diff adds total/1Q gate count + total/1Q depth alongside existing 2Q metrics; FlexibleBackend gets fixed </a:t>
            </a:r>
            <a:r>
              <a:rPr>
                <a:latin typeface="Courier"/>
              </a:rPr>
              <a:t>seed=12345</a:t>
            </a:r>
            <a:r>
              <a:rPr/>
              <a:t> so abstract tests see deterministic backend targets.</a:t>
            </a:r>
          </a:p>
          <a:p>
            <a:pPr lvl="0"/>
            <a:r>
              <a:rPr b="1"/>
              <a:t>Bug-2 exclusion</a:t>
            </a:r>
            <a:r>
              <a:rPr/>
              <a:t>: 2 circuits (1 in device_hamiltonians, 1 in abstract_hamiltonians) hit a pre-existing upstream non-determinism (1Q rotation tie-break). 2Q counts identical on both, only 1Q drift. Excluded from aggregate; reproducer included.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Per-group results (1,021 circuits, all bit-identical)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  <a:gridCol w="1435100"/>
                <a:gridCol w="1435100"/>
                <a:gridCol w="1435100"/>
                <a:gridCol w="1435100"/>
                <a:gridCol w="1435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Circuits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2Q count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Total count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Total depth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Wall-clock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feynman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−22.7%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device_hamiltonians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−17.5%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abstract_small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−9.5%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abstract_medium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−19.1%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abstract_large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−17.5%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abstract_hamiltonians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−10.3%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1,021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−16.2%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Zero delta on every gate / depth metric across every group.</a:t>
            </a:r>
            <a:r>
              <a:rPr/>
              <a:t> Aggregate −16.2% wall-clock, range −9.5% to −22.7%, no slowdowns &gt;5%.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Headline speedups (per-circuit, end-to-end </a:t>
            </a:r>
            <a:r>
              <a:rPr>
                <a:latin typeface="Courier"/>
              </a:rPr>
              <a:t>pm.run()</a:t>
            </a:r>
            <a:r>
              <a:rPr/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Circuit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Speedup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hwb12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feynman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14.40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10.85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−24.7%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hwb11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feynman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6.76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5.19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−23.2%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100-linear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abstract_large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6.39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4.68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−26.7%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vqe_uccsd_n28-square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abstract_large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18.09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13.62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−24.7%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bwt_n37-linear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abstract_large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67.38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50.81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−24.6%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multiplier_n400-linear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abstract_large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26.24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19.91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−24.1%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factor247_n15-heavy-hex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abstract_medium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14.33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11.03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−23.0%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ham_gnp-k_5_n-90_rinst-02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abstract_hams (linear)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0.75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−26.4%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Wall-clock is </a:t>
            </a:r>
            <a:r>
              <a:rPr b="1"/>
              <a:t>end-to-end</a:t>
            </a:r>
            <a:r>
              <a:rPr/>
              <a:t> transpile (pipeline-wide); loop-only speedup is larger but not directly measured by these runs.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Stress test: hwb12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hwb12.qasm</a:t>
            </a:r>
            <a:r>
              <a:rPr/>
              <a:t> (Hidden Weighted Bit, 12 qubits, ~190K input gates) is Matthew’s go-to stress test for the L2 loop because the loop processes </a:t>
            </a:r>
            <a:r>
              <a:rPr b="1"/>
              <a:t>&gt;1M gates</a:t>
            </a:r>
            <a:r>
              <a:rPr/>
              <a:t> after pre-loop block consolidation.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End-to-end transpile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14.40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10.85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−24.7%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2Q gate 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644,633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644,633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1Q gate 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1,752,972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1,752,972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depth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1,074,718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1,074,718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Bit-identical output on every metric</a:t>
            </a:r>
            <a:r>
              <a:rPr/>
              <a:t>, end-to-end </a:t>
            </a:r>
            <a:r>
              <a:rPr b="1"/>
              <a:t>−24.7%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Earlier loop-only measurement: </a:t>
            </a:r>
            <a:r>
              <a:rPr b="1"/>
              <a:t>+47% / −32% wall-clock</a:t>
            </a:r>
            <a:r>
              <a:rPr/>
              <a:t> (4.0s vs 5.8s loop-body), confirming the wall-clock win is the loop, not noise.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upstream Qiskit issues found (not caused by this PR)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Bug 1 — walrus precedence in </a:t>
            </a:r>
            <a:r>
              <a:rPr b="1">
                <a:latin typeface="Courier"/>
              </a:rPr>
              <a:t>QISKIT_TRANSPILER_SEED</a:t>
            </a:r>
            <a:r>
              <a:rPr b="1"/>
              <a:t> parsing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Current (buggy) — `:=` binds looser than `is not None`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seed </a:t>
            </a:r>
            <a:r>
              <a:rPr>
                <a:solidFill>
                  <a:srgbClr val="666666"/>
                </a:solidFill>
                <a:latin typeface="Courier"/>
              </a:rPr>
              <a:t>:=</a:t>
            </a:r>
            <a:r>
              <a:rPr>
                <a:latin typeface="Courier"/>
              </a:rPr>
              <a:t> os.getenv(</a:t>
            </a:r>
            <a:r>
              <a:rPr>
                <a:solidFill>
                  <a:srgbClr val="4070A0"/>
                </a:solidFill>
                <a:latin typeface="Courier"/>
              </a:rPr>
              <a:t>"QISKIT_TRANSPILER_SEED"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seed_transpiler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(seed)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Result: seed_transpiler is always 0 or 1 regardless of env-var value.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Fix: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(seed </a:t>
            </a:r>
            <a:r>
              <a:rPr>
                <a:solidFill>
                  <a:srgbClr val="666666"/>
                </a:solidFill>
                <a:latin typeface="Courier"/>
              </a:rPr>
              <a:t>:=</a:t>
            </a:r>
            <a:r>
              <a:rPr>
                <a:latin typeface="Courier"/>
              </a:rPr>
              <a:t> os.getenv(</a:t>
            </a:r>
            <a:r>
              <a:rPr>
                <a:solidFill>
                  <a:srgbClr val="4070A0"/>
                </a:solidFill>
                <a:latin typeface="Courier"/>
              </a:rPr>
              <a:t>"QISKIT_TRANSPILER_SEED"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))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seed_transpiler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(seed)</a:t>
            </a:r>
          </a:p>
          <a:p>
            <a:pPr lvl="0" indent="0" marL="0">
              <a:buNone/>
            </a:pPr>
            <a:r>
              <a:rPr/>
              <a:t>Pure-Python reproducer in evidence tarball. Will be filed upstream separately.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Bug 2 — unseeded RNG in 1Q rotation tie-break</a:t>
            </a:r>
          </a:p>
          <a:p>
            <a:pPr lvl="0" indent="0" marL="0">
              <a:buNone/>
            </a:pPr>
            <a:r>
              <a:rPr/>
              <a:t>2 of 1,023 circuits give different 1Q decompositions across fresh Python subprocesses, even with </a:t>
            </a:r>
            <a:r>
              <a:rPr>
                <a:latin typeface="Courier"/>
              </a:rPr>
              <a:t>seed_transpiler</a:t>
            </a:r>
            <a:r>
              <a:rPr/>
              <a:t> pinned. 2Q count unchanged on both. Reproducer in tarball.</a:t>
            </a:r>
          </a:p>
          <a:p>
            <a:pPr lvl="0" indent="0" marL="0">
              <a:buNone/>
            </a:pPr>
            <a:r>
              <a:rPr/>
              <a:t>Both bugs predate this PR. Excluded from analysis to avoid distorting results.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 #16157</a:t>
            </a:r>
            <a:r>
              <a:rPr/>
              <a:t>: open, ready for re-review.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 template + AI/LLM disclosure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 signed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Commit authorship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Rebased on current main, no merge conflicts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Evidence — full benchpress + raw JSONs + scripts attached as tarball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Per-group + total no-regression on 6 metrics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Wall-clock speedup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Re-review requested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Next</a:t>
            </a:r>
            <a:r>
              <a:rPr/>
              <a:t>: respond to any further review comments; file Bugs 1 and 2 as separate issues; prep follow-up PRs if Matthew wants the same shape at Level 3.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2026-05-13T20:34:56Z</dcterms:created>
  <dcterms:modified xsi:type="dcterms:W3CDTF">2026-05-13T20:34:56Z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oter">
    <vt:lpwstr>Sophia Wen | IBM Quantum | qiskit#16157</vt:lpwstr>
  </property>
  <property fmtid="{D5CDD505-2E9C-101B-9397-08002B2CF9AE}" pid="3" name="header">
    <vt:lpwstr>Smarter Loop Exit for Level 2 Optimization</vt:lpwstr>
  </property>
  <property fmtid="{D5CDD505-2E9C-101B-9397-08002B2CF9AE}" pid="4" name="marp">
    <vt:lpwstr>True</vt:lpwstr>
  </property>
  <property fmtid="{D5CDD505-2E9C-101B-9397-08002B2CF9AE}" pid="5" name="paginate">
    <vt:lpwstr>True</vt:lpwstr>
  </property>
  <property fmtid="{D5CDD505-2E9C-101B-9397-08002B2CF9AE}" pid="6" name="size">
    <vt:lpwstr>16:9</vt:lpwstr>
  </property>
  <property fmtid="{D5CDD505-2E9C-101B-9397-08002B2CF9AE}" pid="7" name="style">
    <vt:lpwstr>section { font-size: 22px; } h1 { color: #0530AD; } h2 { color: #0530AD; } table { font-size: 18px; } pre { font-size: 16px; } code { font-size: 16px; }</vt:lpwstr>
  </property>
  <property fmtid="{D5CDD505-2E9C-101B-9397-08002B2CF9AE}" pid="8" name="theme">
    <vt:lpwstr>default</vt:lpwstr>
  </property>
</Properties>
</file>
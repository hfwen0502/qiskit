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530AD"/>
                </a:solidFill>
                <a:latin typeface="Calibri"/>
              </a:defRPr>
            </a:pPr>
            <a:r>
              <a:t>Qiskit Transpiler Optimization Passes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66666"/>
                </a:solidFill>
                <a:latin typeface="Calibri"/>
              </a:defRPr>
            </a:pPr>
            <a:r>
              <a:t>Three Investigations into Level 2 Pipeline Efficiency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1.  Optimization Loop: opportunity-driven convergence for L2 (zero regression)</a:t>
            </a:r>
          </a:p>
          <a:p>
            <a:pPr>
              <a:spcAft>
                <a:spcPts val="4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2.  Compute-Then-Apply: parallel DAG access refactoring (1.5-1.9x speedup)</a:t>
            </a:r>
          </a:p>
          <a:p>
            <a:pPr>
              <a:spcAft>
                <a:spcPts val="4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3.  3-Qubit Block Synthesis: separability splitting (-5% CX gates)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66928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Calibri"/>
              </a:defRPr>
            </a:pPr>
            <a:r>
              <a:t>Sophia Wen  |  IBM Quantum  |  Benchpress + Qiskit fork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530AD"/>
                </a:solidFill>
                <a:latin typeface="Calibri"/>
              </a:defRPr>
            </a:pPr>
            <a:r>
              <a:t>1. Optimization Loop: Opportunity-Driven Convergence for Level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33333"/>
                </a:solidFill>
                <a:latin typeface="Calibri"/>
              </a:defRPr>
            </a:pPr>
            <a:r>
              <a:t>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3840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Level 2 uses FixedPoint(size) AND FixedPoint(depth)</a:t>
            </a:r>
          </a:p>
          <a:p>
            <a:pPr>
              <a:spcAft>
                <a:spcPts val="4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Always requires a redundant "confirmation" iteration</a:t>
            </a:r>
          </a:p>
          <a:p>
            <a:pPr>
              <a:spcAft>
                <a:spcPts val="4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that re-runs all passes just to verify nothing changed</a:t>
            </a:r>
          </a:p>
          <a:p>
            <a:pPr>
              <a:spcAft>
                <a:spcPts val="4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Challenge: Optimize1qGatesDecomposition mutates DAG</a:t>
            </a:r>
          </a:p>
          <a:p>
            <a:pPr>
              <a:spcAft>
                <a:spcPts val="4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unconditionally (replaces 1Q runs even when result is</a:t>
            </a:r>
          </a:p>
          <a:p>
            <a:pPr>
              <a:spcAft>
                <a:spcPts val="4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identical). A naive "changed?" flag never converges.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0" y="9144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803E"/>
                </a:solidFill>
                <a:latin typeface="Calibri"/>
              </a:defRPr>
            </a:pPr>
            <a:r>
              <a:t>Solution: Track Opportunity Producers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123444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333333"/>
                </a:solidFill>
                <a:latin typeface="Calibri"/>
              </a:defRPr>
            </a:pPr>
            <a:r>
              <a:t>Only track passes that produce new opportunities:</a:t>
            </a:r>
          </a:p>
          <a:p>
            <a:pPr>
              <a:spcAft>
                <a:spcPts val="4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  _opt_pass_changed: 2Q gate removed (exposes</a:t>
            </a:r>
          </a:p>
          <a:p>
            <a:pPr>
              <a:spcAft>
                <a:spcPts val="4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    longer 1Q runs for next iteration)</a:t>
            </a:r>
          </a:p>
          <a:p>
            <a:pPr>
              <a:spcAft>
                <a:spcPts val="4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  _opt_1q_consolidated: rotations merged (shortens</a:t>
            </a:r>
          </a:p>
          <a:p>
            <a:pPr>
              <a:spcAft>
                <a:spcPts val="4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    1Q runs for better decomposition)</a:t>
            </a:r>
          </a:p>
          <a:p>
            <a:pPr>
              <a:spcAft>
                <a:spcPts val="4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Optimize1qGatesDecomposition is a consumer, not a</a:t>
            </a:r>
          </a:p>
          <a:p>
            <a:pPr>
              <a:spcAft>
                <a:spcPts val="4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producer -- it doesn't drive the loop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38328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Calibri"/>
              </a:defRPr>
            </a:pPr>
            <a:r>
              <a:t>Results: Zero Regression vs FixedPoint (A/B tested)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3703320"/>
          <a:ext cx="77724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188720"/>
                <a:gridCol w="1371600"/>
                <a:gridCol w="1188720"/>
                <a:gridCol w="914400"/>
                <a:gridCol w="1463040"/>
              </a:tblGrid>
              <a:tr h="300445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Circuit</a:t>
                      </a:r>
                    </a:p>
                  </a:txBody>
                  <a:tcPr anchor="ctr">
                    <a:solidFill>
                      <a:srgbClr val="0530A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FixedPoint Iters</a:t>
                      </a:r>
                    </a:p>
                  </a:txBody>
                  <a:tcPr anchor="ctr">
                    <a:solidFill>
                      <a:srgbClr val="0530A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Changed-Flag Iters</a:t>
                      </a:r>
                    </a:p>
                  </a:txBody>
                  <a:tcPr anchor="ctr">
                    <a:solidFill>
                      <a:srgbClr val="0530A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Total Gates</a:t>
                      </a:r>
                    </a:p>
                  </a:txBody>
                  <a:tcPr anchor="ctr">
                    <a:solidFill>
                      <a:srgbClr val="0530A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Depth</a:t>
                      </a:r>
                    </a:p>
                  </a:txBody>
                  <a:tcPr anchor="ctr">
                    <a:solidFill>
                      <a:srgbClr val="0530A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Regressed?</a:t>
                      </a:r>
                    </a:p>
                  </a:txBody>
                  <a:tcPr anchor="ctr">
                    <a:solidFill>
                      <a:srgbClr val="0530AD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QFT_100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37,687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5,404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 (0 delta)</a:t>
                      </a:r>
                    </a:p>
                  </a:txBody>
                  <a:tcPr anchor="ctr"/>
                </a:tc>
              </a:tr>
              <a:tr h="300445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QV_100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96,474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EfficientSU2_100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1,494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330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 (0 delta)</a:t>
                      </a:r>
                    </a:p>
                  </a:txBody>
                  <a:tcPr anchor="ctr"/>
                </a:tc>
              </a:tr>
              <a:tr h="300445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QAOA_100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2,137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323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 (0 delta)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BV_100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196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anchor="ctr"/>
                </a:tc>
              </a:tr>
              <a:tr h="30045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Heisenberg_100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891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5943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  <a:latin typeface="Calibri"/>
              </a:defRPr>
            </a:pPr>
            <a:r>
              <a:t>Both 2Q and 1Q optimization preserved. Loop exits when neither opportunity-producing pass finds work. Removes 4 analysis passes (Size, Depth, FixedPoint x2) per iteration. Branch: pass-manager-investigation (commit efc12cf7c).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530AD"/>
                </a:solidFill>
                <a:latin typeface="Calibri"/>
              </a:defRPr>
            </a:pPr>
            <a:r>
              <a:t>2. Compute-Then-Apply: Batching DAG Access for Cache Efficiency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Calibri"/>
              </a:defRPr>
            </a:pPr>
            <a:r>
              <a:t>Three most expensive optimization passes: ConsolidateBlocks (51-75%), Optimize1qGatesDecomposition (6-15%), CommutativeCancellation (6-15%)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371600"/>
            <a:ext cx="3931920" cy="2011680"/>
          </a:xfrm>
          <a:prstGeom prst="roundRect">
            <a:avLst/>
          </a:prstGeom>
          <a:solidFill>
            <a:srgbClr val="F8F8F8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3749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66666"/>
                </a:solidFill>
                <a:latin typeface="Calibri"/>
              </a:defRPr>
            </a:pPr>
            <a:r>
              <a:t>BEFORE: Interleaved read-compute-write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627632"/>
            <a:ext cx="365760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ourier New"/>
              </a:defRPr>
            </a:pPr>
            <a:r>
              <a:t>for item in items: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ourier New"/>
              </a:defRPr>
            </a:pPr>
            <a:r>
              <a:t>    result = read_dag(item)   # READ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ourier New"/>
              </a:defRPr>
            </a:pPr>
            <a:r>
              <a:t>    compute(result)           # COMPUTE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ourier New"/>
              </a:defRPr>
            </a:pPr>
            <a:r>
              <a:t>    mutate_dag(result)        # WRITE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ourier New"/>
              </a:defRPr>
            </a:pPr>
            <a:r>
              <a:t>    # next read hits cold cache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ourier New"/>
              </a:defRPr>
            </a:pPr>
            <a:r>
              <a:t>    # (edges/nodes just modified)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3440" y="1371600"/>
            <a:ext cx="4114800" cy="2011680"/>
          </a:xfrm>
          <a:prstGeom prst="roundRect">
            <a:avLst/>
          </a:prstGeom>
          <a:solidFill>
            <a:srgbClr val="F8F8F8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0" y="1417320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66666"/>
                </a:solidFill>
                <a:latin typeface="Calibri"/>
              </a:defRPr>
            </a:pPr>
            <a:r>
              <a:t>AFTER: Batched compute-then-apply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00600" y="1627632"/>
            <a:ext cx="384048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ourier New"/>
              </a:defRPr>
            </a:pPr>
            <a:r>
              <a:t># Phase 1: compute (DAG stable, cache warm)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ourier New"/>
              </a:defRPr>
            </a:pPr>
            <a:r>
              <a:t>results = []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ourier New"/>
              </a:defRPr>
            </a:pPr>
            <a:r>
              <a:t>for item in items: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ourier New"/>
              </a:defRPr>
            </a:pPr>
            <a:r>
              <a:t>    results.push(read_dag(item) + compute)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ourier New"/>
              </a:defRPr>
            </a:pPr>
            <a:r>
              <a:t># Phase 2: apply (batch all mutations)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ourier New"/>
              </a:defRPr>
            </a:pPr>
            <a:r>
              <a:t>for result in results: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ourier New"/>
              </a:defRPr>
            </a:pPr>
            <a:r>
              <a:t>    mutate_dag(result)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3611880"/>
            <a:ext cx="8412480" cy="640080"/>
          </a:xfrm>
          <a:prstGeom prst="roundRect">
            <a:avLst/>
          </a:prstGeom>
          <a:solidFill>
            <a:srgbClr val="E8F0FE"/>
          </a:solidFill>
          <a:ln w="19050">
            <a:solidFill>
              <a:srgbClr val="006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333333"/>
                </a:solidFill>
                <a:latin typeface="Calibri"/>
              </a:defRPr>
            </a:pPr>
            <a:r>
              <a:t>Key insight: Separating compute from mutation enables both cache-friendly access AND rayon parallelism. Serial mode shows 1.85x from batching alone (cache-warm reads). Rayon adds further speedup on release builds (4.7-6.5x within these passes). Combined: 1.5-1.6x end-to-end on QFT circuits.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3333"/>
                </a:solidFill>
                <a:latin typeface="Calibri"/>
              </a:defRPr>
            </a:pPr>
            <a:r>
              <a:t>Passes Refactored (all Rust, ~470 lines changed):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8006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0">
                <a:solidFill>
                  <a:srgbClr val="666666"/>
                </a:solidFill>
                <a:latin typeface="Calibri"/>
              </a:defRPr>
            </a:pPr>
            <a:r>
              <a:t>Optimize1qGatesDecomposition: extract process_run(), pre-compute basis data, parallel threshold 500 runs</a:t>
            </a:r>
          </a:p>
          <a:p>
            <a:pPr>
              <a:spcAft>
                <a:spcPts val="200"/>
              </a:spcAft>
              <a:defRPr sz="1100" b="0">
                <a:solidFill>
                  <a:srgbClr val="666666"/>
                </a:solidFill>
                <a:latin typeface="Calibri"/>
              </a:defRPr>
            </a:pPr>
            <a:r>
              <a:t>CommutationAnalysis: extract per-wire function, &amp;mut self -&gt; &amp;self on CommutationChecker, parallel threshold 100 qubits</a:t>
            </a:r>
          </a:p>
          <a:p>
            <a:pPr>
              <a:spcAft>
                <a:spcPts val="200"/>
              </a:spcAft>
              <a:defRPr sz="1100" b="0">
                <a:solidFill>
                  <a:srgbClr val="666666"/>
                </a:solidFill>
                <a:latin typeface="Calibri"/>
              </a:defRPr>
            </a:pPr>
            <a:r>
              <a:t>ConsolidateBlocks: TwoQBlockAction enum, 3-phase (classify/compute/apply), parallel threshold 200 blocks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9436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Branch: parallel-optimization-passes  |  Base: 03c640f73  |  Full diff: 03c640f73...ea4abc77c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530AD"/>
                </a:solidFill>
                <a:latin typeface="Calibri"/>
              </a:defRPr>
            </a:pPr>
            <a:r>
              <a:t>2. Compute-Then-Apply: Benchmark Results (Release Build)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Calibri"/>
              </a:defRPr>
            </a:pPr>
            <a:r>
              <a:t>FakeTorino (133Q heavy-hex), optimization level 2, QISKIT_BUILD_PROFILE=release, 5 runs mean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18872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Calibri"/>
              </a:defRPr>
            </a:pPr>
            <a:r>
              <a:t>Default Mode (Rayon ON) -- Remote Server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508760"/>
          <a:ext cx="38404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914400"/>
                <a:gridCol w="914400"/>
              </a:tblGrid>
              <a:tr h="313508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Circuit</a:t>
                      </a:r>
                    </a:p>
                  </a:txBody>
                  <a:tcPr anchor="ctr">
                    <a:solidFill>
                      <a:srgbClr val="0530A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Main (s)</a:t>
                      </a:r>
                    </a:p>
                  </a:txBody>
                  <a:tcPr anchor="ctr">
                    <a:solidFill>
                      <a:srgbClr val="0530A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Ours (s)</a:t>
                      </a:r>
                    </a:p>
                  </a:txBody>
                  <a:tcPr anchor="ctr">
                    <a:solidFill>
                      <a:srgbClr val="0530A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Speedup</a:t>
                      </a:r>
                    </a:p>
                  </a:txBody>
                  <a:tcPr anchor="ctr">
                    <a:solidFill>
                      <a:srgbClr val="0530AD"/>
                    </a:solidFill>
                  </a:tcPr>
                </a:tc>
              </a:tr>
              <a:tr h="31350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QFT-50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0.196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0.129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803E"/>
                          </a:solidFill>
                          <a:latin typeface="Calibri"/>
                        </a:defRPr>
                      </a:pPr>
                      <a:r>
                        <a:t>1.52x</a:t>
                      </a:r>
                    </a:p>
                  </a:txBody>
                  <a:tcPr anchor="ctr"/>
                </a:tc>
              </a:tr>
              <a:tr h="31350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QFT-100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0.456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0.288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803E"/>
                          </a:solidFill>
                          <a:latin typeface="Calibri"/>
                        </a:defRPr>
                      </a:pPr>
                      <a:r>
                        <a:t>1.58x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1350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ESU2-50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0.012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0.013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~same</a:t>
                      </a:r>
                    </a:p>
                  </a:txBody>
                  <a:tcPr anchor="ctr"/>
                </a:tc>
              </a:tr>
              <a:tr h="31350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ESU2-100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0.019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0.018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~same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1350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QV-50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0.060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0.054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1.11x</a:t>
                      </a:r>
                    </a:p>
                  </a:txBody>
                  <a:tcPr anchor="ctr"/>
                </a:tc>
              </a:tr>
              <a:tr h="31351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QV-100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0.164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0.154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1.06x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754880" y="118872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Calibri"/>
              </a:defRPr>
            </a:pPr>
            <a:r>
              <a:t>Serial Mode (Rayon OFF) -- Remote Server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1508760"/>
          <a:ext cx="38404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914400"/>
                <a:gridCol w="914400"/>
              </a:tblGrid>
              <a:tr h="313508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Circuit</a:t>
                      </a:r>
                    </a:p>
                  </a:txBody>
                  <a:tcPr anchor="ctr">
                    <a:solidFill>
                      <a:srgbClr val="0530A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Main (s)</a:t>
                      </a:r>
                    </a:p>
                  </a:txBody>
                  <a:tcPr anchor="ctr">
                    <a:solidFill>
                      <a:srgbClr val="0530A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Ours (s)</a:t>
                      </a:r>
                    </a:p>
                  </a:txBody>
                  <a:tcPr anchor="ctr">
                    <a:solidFill>
                      <a:srgbClr val="0530A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Speedup</a:t>
                      </a:r>
                    </a:p>
                  </a:txBody>
                  <a:tcPr anchor="ctr">
                    <a:solidFill>
                      <a:srgbClr val="0530AD"/>
                    </a:solidFill>
                  </a:tcPr>
                </a:tc>
              </a:tr>
              <a:tr h="31350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QFT-50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1.128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0.609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803E"/>
                          </a:solidFill>
                          <a:latin typeface="Calibri"/>
                        </a:defRPr>
                      </a:pPr>
                      <a:r>
                        <a:t>1.85x</a:t>
                      </a:r>
                    </a:p>
                  </a:txBody>
                  <a:tcPr anchor="ctr"/>
                </a:tc>
              </a:tr>
              <a:tr h="31350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QFT-100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2.648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1.407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803E"/>
                          </a:solidFill>
                          <a:latin typeface="Calibri"/>
                        </a:defRPr>
                      </a:pPr>
                      <a:r>
                        <a:t>1.88x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1350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ESU2-50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0.012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0.012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~same</a:t>
                      </a:r>
                    </a:p>
                  </a:txBody>
                  <a:tcPr anchor="ctr"/>
                </a:tc>
              </a:tr>
              <a:tr h="31350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ESU2-100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0.019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0.019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~same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1350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QV-50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0.305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0.264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1.16x</a:t>
                      </a:r>
                    </a:p>
                  </a:txBody>
                  <a:tcPr anchor="ctr"/>
                </a:tc>
              </a:tr>
              <a:tr h="31351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QV-100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1.040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0.999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1.04x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274320" y="393192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Calibri"/>
              </a:defRPr>
            </a:pPr>
            <a:r>
              <a:t>Rayon ON vs OFF -- Isolating Threading Contribution: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74320" y="4251960"/>
          <a:ext cx="73152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005840"/>
                <a:gridCol w="1005840"/>
                <a:gridCol w="1097280"/>
                <a:gridCol w="1005840"/>
                <a:gridCol w="1005840"/>
                <a:gridCol w="1097280"/>
              </a:tblGrid>
              <a:tr h="27432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Circuit</a:t>
                      </a:r>
                    </a:p>
                  </a:txBody>
                  <a:tcPr anchor="ctr">
                    <a:solidFill>
                      <a:srgbClr val="0530A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Main: ON</a:t>
                      </a:r>
                    </a:p>
                  </a:txBody>
                  <a:tcPr anchor="ctr">
                    <a:solidFill>
                      <a:srgbClr val="0530A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Main: OFF</a:t>
                      </a:r>
                    </a:p>
                  </a:txBody>
                  <a:tcPr anchor="ctr">
                    <a:solidFill>
                      <a:srgbClr val="0530A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Main Rayon</a:t>
                      </a:r>
                    </a:p>
                  </a:txBody>
                  <a:tcPr anchor="ctr">
                    <a:solidFill>
                      <a:srgbClr val="0530A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Ours: ON</a:t>
                      </a:r>
                    </a:p>
                  </a:txBody>
                  <a:tcPr anchor="ctr">
                    <a:solidFill>
                      <a:srgbClr val="0530A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Ours: OFF</a:t>
                      </a:r>
                    </a:p>
                  </a:txBody>
                  <a:tcPr anchor="ctr">
                    <a:solidFill>
                      <a:srgbClr val="0530A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Ours Rayon</a:t>
                      </a:r>
                    </a:p>
                  </a:txBody>
                  <a:tcPr anchor="ctr">
                    <a:solidFill>
                      <a:srgbClr val="0530A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QFT-50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0.196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1.128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5.8x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0.129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0.609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4.7x</a:t>
                      </a:r>
                    </a:p>
                  </a:txBody>
                  <a:tcPr anchor="ctr"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QFT-100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0.456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2.648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5.8x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0.288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1.407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4.9x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QV-100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0.164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1.040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6.3x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0.154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0.999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6.5x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274320" y="5577840"/>
            <a:ext cx="8595360" cy="640080"/>
          </a:xfrm>
          <a:prstGeom prst="roundRect">
            <a:avLst/>
          </a:prstGeom>
          <a:solidFill>
            <a:srgbClr val="E8F0FE"/>
          </a:solidFill>
          <a:ln w="19050">
            <a:solidFill>
              <a:srgbClr val="006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333333"/>
                </a:solidFill>
                <a:latin typeface="Calibri"/>
              </a:defRPr>
            </a:pPr>
            <a:r>
              <a:t>Takeaway: 1.5-1.6x end-to-end speedup on QFT circuits (rayon ON). In serial mode, restructuring alone gives 1.85-1.88x. Main already has rayon in SABRE (5-6x); our branch adds rayon to 3 optimization passes. Small circuits show no overhead. Gate counts identical.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530AD"/>
                </a:solidFill>
                <a:latin typeface="Calibri"/>
              </a:defRPr>
            </a:pPr>
            <a:r>
              <a:t>2. Compute-Then-Apply: Related Upstream PRs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Calibri"/>
              </a:defRPr>
            </a:pPr>
            <a:r>
              <a:t>Three open Qiskit PRs pursue the same goal. All unmerged and on hold (May 2026).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188720"/>
          <a:ext cx="85953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1828800"/>
                <a:gridCol w="2103120"/>
                <a:gridCol w="1828800"/>
                <a:gridCol w="2103120"/>
              </a:tblGrid>
              <a:tr h="4572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</a:t>
                      </a:r>
                    </a:p>
                  </a:txBody>
                  <a:tcPr anchor="ctr">
                    <a:solidFill>
                      <a:srgbClr val="0530A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 anchor="ctr">
                    <a:solidFill>
                      <a:srgbClr val="0530A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Their Approach</a:t>
                      </a:r>
                    </a:p>
                  </a:txBody>
                  <a:tcPr anchor="ctr">
                    <a:solidFill>
                      <a:srgbClr val="0530A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Blocker</a:t>
                      </a:r>
                    </a:p>
                  </a:txBody>
                  <a:tcPr anchor="ctr">
                    <a:solidFill>
                      <a:srgbClr val="0530A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Our Advantage</a:t>
                      </a:r>
                    </a:p>
                  </a:txBody>
                  <a:tcPr anchor="ctr">
                    <a:solidFill>
                      <a:srgbClr val="0530A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#16014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CommutationAnalysis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fold+reduce with rayon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Non-deterministic order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Deterministic merge by qubit index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#15567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Optimize1qGatesDecomp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OnceLock lazy init, 100K threshold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Test failures, never triggers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Simple precompute, threshold=500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#13419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ConsolidateBlocks (rewrite)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Unified pass (86 commits)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Large scope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Minimal focused change, composable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32918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Calibri"/>
              </a:defRPr>
            </a:pPr>
            <a:r>
              <a:t>Key Implementation Differences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566160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0">
                <a:solidFill>
                  <a:srgbClr val="666666"/>
                </a:solidFill>
                <a:latin typeface="Calibri"/>
              </a:defRPr>
            </a:pPr>
            <a:r>
              <a:t>#16014: Their fold+reduce merges IndexMaps from threads → non-deterministic iteration order (flagged by reviewer).</a:t>
            </a:r>
          </a:p>
          <a:p>
            <a:pPr>
              <a:spcAft>
                <a:spcPts val="200"/>
              </a:spcAft>
              <a:defRPr sz="1100" b="0">
                <a:solidFill>
                  <a:srgbClr val="666666"/>
                </a:solidFill>
                <a:latin typeface="Calibri"/>
              </a:defRPr>
            </a:pPr>
            <a:r>
              <a:t>    Ours: collect per-wire results into Vec ordered by qubit index, merge sequentially. Deterministic, zero overhead.</a:t>
            </a:r>
          </a:p>
          <a:p>
            <a:pPr>
              <a:spcAft>
                <a:spcPts val="200"/>
              </a:spcAft>
              <a:defRPr sz="1100" b="0">
                <a:solidFill>
                  <a:srgbClr val="666666"/>
                </a:solidFill>
                <a:latin typeface="Calibri"/>
              </a:defRPr>
            </a:pPr>
          </a:p>
          <a:p>
            <a:pPr>
              <a:spcAft>
                <a:spcPts val="200"/>
              </a:spcAft>
              <a:defRPr sz="1100" b="0">
                <a:solidFill>
                  <a:srgbClr val="666666"/>
                </a:solidFill>
                <a:latin typeface="Calibri"/>
              </a:defRPr>
            </a:pPr>
            <a:r>
              <a:t>#15567: OnceLock defers basis computation per-qubit with thread-safe lazy init — complex, threshold too high to trigger.</a:t>
            </a:r>
          </a:p>
          <a:p>
            <a:pPr>
              <a:spcAft>
                <a:spcPts val="200"/>
              </a:spcAft>
              <a:defRPr sz="1100" b="0">
                <a:solidFill>
                  <a:srgbClr val="666666"/>
                </a:solidFill>
                <a:latin typeface="Calibri"/>
              </a:defRPr>
            </a:pPr>
            <a:r>
              <a:t>    Ours: precompute_basis_data() upfront in one pass, then stateless process_run(). No sync overhead, practical threshold.</a:t>
            </a:r>
          </a:p>
          <a:p>
            <a:pPr>
              <a:spcAft>
                <a:spcPts val="200"/>
              </a:spcAft>
              <a:defRPr sz="1100" b="0">
                <a:solidFill>
                  <a:srgbClr val="666666"/>
                </a:solidFill>
                <a:latin typeface="Calibri"/>
              </a:defRPr>
            </a:pPr>
          </a:p>
          <a:p>
            <a:pPr>
              <a:spcAft>
                <a:spcPts val="200"/>
              </a:spcAft>
              <a:defRPr sz="1100" b="0">
                <a:solidFill>
                  <a:srgbClr val="666666"/>
                </a:solidFill>
                <a:latin typeface="Calibri"/>
              </a:defRPr>
            </a:pPr>
            <a:r>
              <a:t>#13419: Full rewrite unifying 3 passes. Our compute-then-apply pattern is orthogonal and can be applied to their new pass.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5669280"/>
            <a:ext cx="8595360" cy="548640"/>
          </a:xfrm>
          <a:prstGeom prst="roundRect">
            <a:avLst/>
          </a:prstGeom>
          <a:solidFill>
            <a:srgbClr val="E8F0FE"/>
          </a:solidFill>
          <a:ln w="19050">
            <a:solidFill>
              <a:srgbClr val="006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333333"/>
                </a:solidFill>
                <a:latin typeface="Calibri"/>
              </a:defRPr>
            </a:pPr>
            <a:r>
              <a:t>Recommendation: Contribute via code review on the open PRs. Our determinism fix directly solves #16014's blocker. Our precompute pattern simplifies #15567. Benchmark data validates practical thresholds for all three.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530AD"/>
                </a:solidFill>
                <a:latin typeface="Calibri"/>
              </a:defRPr>
            </a:pPr>
            <a:r>
              <a:t>3. 3-Qubit Block Synthesis: Separability Splitting for -5% CX Gates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33333"/>
                </a:solidFill>
                <a:latin typeface="Calibri"/>
              </a:defRPr>
            </a:pPr>
            <a:r>
              <a:t>Problem &amp;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39319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Qiskit has excellent 2Q synthesis (KAK/Weyl: 0-3 CX)</a:t>
            </a:r>
          </a:p>
          <a:p>
            <a:pPr>
              <a:spcAft>
                <a:spcPts val="2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but no 3Q block optimization</a:t>
            </a:r>
          </a:p>
          <a:p>
            <a:pPr>
              <a:spcAft>
                <a:spcPts val="2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Many 3Q blocks contain "bystander" qubits that don't</a:t>
            </a:r>
          </a:p>
          <a:p>
            <a:pPr>
              <a:spcAft>
                <a:spcPts val="2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interact -- block is really 2Q + 1Q (tensor product)</a:t>
            </a:r>
          </a:p>
          <a:p>
            <a:pPr>
              <a:spcAft>
                <a:spcPts val="2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200"/>
              </a:spcAft>
              <a:defRPr sz="1200" b="1">
                <a:solidFill>
                  <a:srgbClr val="333333"/>
                </a:solidFill>
                <a:latin typeface="Calibri"/>
              </a:defRPr>
            </a:pPr>
            <a:r>
              <a:t>Sequential strategy:</a:t>
            </a:r>
          </a:p>
          <a:p>
            <a:pPr>
              <a:spcAft>
                <a:spcPts val="2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1. Run standard 2Q optimization (existing Level 2)</a:t>
            </a:r>
          </a:p>
          <a:p>
            <a:pPr>
              <a:spcAft>
                <a:spcPts val="2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2. Detect separable 3Q blocks (identity coefficient test)</a:t>
            </a:r>
          </a:p>
          <a:p>
            <a:pPr>
              <a:spcAft>
                <a:spcPts val="2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3. Split into 2Q + 1Q, route 2Q through KAK</a:t>
            </a:r>
          </a:p>
          <a:p>
            <a:pPr>
              <a:spcAft>
                <a:spcPts val="2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4. Guard QSD with &gt;14 CX threshold for remainder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0" y="9144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803E"/>
                </a:solidFill>
                <a:latin typeface="Calibri"/>
              </a:defRPr>
            </a:pPr>
            <a:r>
              <a:t>Key Finding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1234440"/>
            <a:ext cx="4114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333333"/>
                </a:solidFill>
                <a:latin typeface="Calibri"/>
              </a:defRPr>
            </a:pPr>
            <a:r>
              <a:t>Separability accounts for 90% of all gains</a:t>
            </a:r>
          </a:p>
          <a:p>
            <a:pPr>
              <a:spcAft>
                <a:spcPts val="2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(8,966 of 9,964 CX gates saved)</a:t>
            </a:r>
          </a:p>
          <a:p>
            <a:pPr>
              <a:spcAft>
                <a:spcPts val="2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2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After 2Q KAK optimization, separability becomes</a:t>
            </a:r>
          </a:p>
          <a:p>
            <a:pPr>
              <a:spcAft>
                <a:spcPts val="2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more prevalent: 1,498 blocks vs ~500 before</a:t>
            </a:r>
          </a:p>
          <a:p>
            <a:pPr>
              <a:spcAft>
                <a:spcPts val="2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(KAK consolidation creates tensor-product structures)</a:t>
            </a:r>
          </a:p>
          <a:p>
            <a:pPr>
              <a:spcAft>
                <a:spcPts val="2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2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QSD contributes only 10% of savings, and only on</a:t>
            </a:r>
          </a:p>
          <a:p>
            <a:pPr>
              <a:spcAft>
                <a:spcPts val="2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circuits with dense 3Q blocks (e.g., multiplier)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9319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Calibri"/>
              </a:defRPr>
            </a:pPr>
            <a:r>
              <a:t>Results: 8 Benchmark Circuits on FakeTorino, Level 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4251960"/>
          <a:ext cx="77724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371600"/>
                <a:gridCol w="1554480"/>
                <a:gridCol w="1371600"/>
                <a:gridCol w="1828800"/>
              </a:tblGrid>
              <a:tr h="3048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Circuit</a:t>
                      </a:r>
                    </a:p>
                  </a:txBody>
                  <a:tcPr anchor="ctr">
                    <a:solidFill>
                      <a:srgbClr val="0530A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Baseline CX</a:t>
                      </a:r>
                    </a:p>
                  </a:txBody>
                  <a:tcPr anchor="ctr">
                    <a:solidFill>
                      <a:srgbClr val="0530A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After 3Q Opt</a:t>
                      </a:r>
                    </a:p>
                  </a:txBody>
                  <a:tcPr anchor="ctr">
                    <a:solidFill>
                      <a:srgbClr val="0530A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CX Reduction</a:t>
                      </a:r>
                    </a:p>
                  </a:txBody>
                  <a:tcPr anchor="ctr">
                    <a:solidFill>
                      <a:srgbClr val="0530A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Separable Blocks</a:t>
                      </a:r>
                    </a:p>
                  </a:txBody>
                  <a:tcPr anchor="ctr">
                    <a:solidFill>
                      <a:srgbClr val="0530AD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QFT_100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9,528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9,279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803E"/>
                          </a:solidFill>
                          <a:latin typeface="Calibri"/>
                        </a:defRPr>
                      </a:pPr>
                      <a:r>
                        <a:t>-2.6%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312</a:t>
                      </a:r>
                    </a:p>
                  </a:txBody>
                  <a:tcPr anchor="ctr"/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QV_100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96,474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91,932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803E"/>
                          </a:solidFill>
                          <a:latin typeface="Calibri"/>
                        </a:defRPr>
                      </a:pPr>
                      <a:r>
                        <a:t>-4.7%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408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QAOA_100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186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176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803E"/>
                          </a:solidFill>
                          <a:latin typeface="Calibri"/>
                        </a:defRPr>
                      </a:pPr>
                      <a:r>
                        <a:t>-5.7%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52</a:t>
                      </a:r>
                    </a:p>
                  </a:txBody>
                  <a:tcPr anchor="ctr"/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Random_100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12,845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12,137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803E"/>
                          </a:solidFill>
                          <a:latin typeface="Calibri"/>
                        </a:defRPr>
                      </a:pPr>
                      <a:r>
                        <a:t>-5.5%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326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Multiplier_10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4,120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3,861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803E"/>
                          </a:solidFill>
                          <a:latin typeface="Calibri"/>
                        </a:defRPr>
                      </a:pPr>
                      <a:r>
                        <a:t>-6.3%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181 (QSD)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59436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  <a:latin typeface="Calibri"/>
              </a:defRPr>
            </a:pPr>
            <a:r>
              <a:t>Recommendation: Implement separability splitting as a Python pass (low effort, high impact). Guard QSD with &gt;14 CX threshold for targeted gains on dense circuits.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530AD"/>
                </a:solidFill>
                <a:latin typeface="Calibri"/>
              </a:defRPr>
            </a:pPr>
            <a:r>
              <a:t>Summary &amp; Next Steps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005840"/>
          <a:ext cx="859536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1645920"/>
                <a:gridCol w="3200400"/>
                <a:gridCol w="1645920"/>
              </a:tblGrid>
              <a:tr h="3429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Investigation</a:t>
                      </a:r>
                    </a:p>
                  </a:txBody>
                  <a:tcPr anchor="ctr">
                    <a:solidFill>
                      <a:srgbClr val="0530A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Status</a:t>
                      </a:r>
                    </a:p>
                  </a:txBody>
                  <a:tcPr anchor="ctr">
                    <a:solidFill>
                      <a:srgbClr val="0530A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Impact</a:t>
                      </a:r>
                    </a:p>
                  </a:txBody>
                  <a:tcPr anchor="ctr">
                    <a:solidFill>
                      <a:srgbClr val="0530A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Effort</a:t>
                      </a:r>
                    </a:p>
                  </a:txBody>
                  <a:tcPr anchor="ctr">
                    <a:solidFill>
                      <a:srgbClr val="0530AD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Optimization Loop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Implemented + verified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Skip redundant iterations, 0 regression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Low (flag change)</a:t>
                      </a:r>
                    </a:p>
                  </a:txBody>
                  <a:tcPr anchor="ctr"/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Compute-Then-Apply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Implemented (fork)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1.5-1.9x speedup (release build)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Medium (Rust refactor)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3Q Block Synthesis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Prototype done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-5% CX gates across benchmarks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Low (Python pass)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2743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Calibri"/>
              </a:defRPr>
            </a:pPr>
            <a:r>
              <a:t>Key Insights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0"/>
            <a:ext cx="8229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All three optimizations are orthogonal -- they compose without interference</a:t>
            </a:r>
          </a:p>
          <a:p>
            <a:pPr>
              <a:spcAft>
                <a:spcPts val="6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Optimization loop: track opportunity-producing passes, not consumers (solves idempotency problem)</a:t>
            </a:r>
          </a:p>
          <a:p>
            <a:pPr>
              <a:spcAft>
                <a:spcPts val="6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Compute-then-apply: separating reads from writes enables both cache efficiency AND rayon parallelism</a:t>
            </a:r>
          </a:p>
          <a:p>
            <a:pPr>
              <a:spcAft>
                <a:spcPts val="6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3Q synthesis gains are dominated by separability (90%), not decomposition algorithms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Calibri"/>
              </a:defRPr>
            </a:pPr>
            <a:r>
              <a:t>Next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93776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Seek feedback from Qiskit transpiler team on all three proposals</a:t>
            </a:r>
          </a:p>
          <a:p>
            <a:pPr>
              <a:spcAft>
                <a:spcPts val="6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Optimization loop: upstream PR with opportunity-driven flag approach</a:t>
            </a:r>
          </a:p>
          <a:p>
            <a:pPr>
              <a:spcAft>
                <a:spcPts val="6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Compute-then-apply: submit PR to Qiskit (branch: parallel-optimization-passes)</a:t>
            </a:r>
          </a:p>
          <a:p>
            <a:pPr>
              <a:spcAft>
                <a:spcPts val="6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3Q synthesis: implement separability pass, integrate into Level 2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12648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  <a:latin typeface="Calibri"/>
              </a:defRPr>
            </a:pPr>
            <a:r>
              <a:t>All code, benchmarks, and investigation docs: github.com/hfwen0502/qiskit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
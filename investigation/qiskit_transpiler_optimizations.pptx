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l">
              <a:defRPr sz="3200" b="1">
                <a:solidFill>
                  <a:srgbClr val="0530AD"/>
                </a:solidFill>
                <a:latin typeface="Calibri"/>
              </a:defRPr>
            </a:pPr>
            <a:r>
              <a:t>Qiskit Transpiler Optimization Passes</a:t>
            </a:r>
          </a:p>
        </p:txBody>
      </p:sp>
      <p:sp>
        <p:nvSpPr>
          <p:cNvPr id="3" name="TextBox 2"/>
          <p:cNvSpPr txBox="1"/>
          <p:nvPr/>
        </p:nvSpPr>
        <p:spPr>
          <a:xfrm>
            <a:off x="731520" y="2286000"/>
            <a:ext cx="7680960" cy="457200"/>
          </a:xfrm>
          <a:prstGeom prst="rect">
            <a:avLst/>
          </a:prstGeom>
          <a:noFill/>
        </p:spPr>
        <p:txBody>
          <a:bodyPr wrap="square">
            <a:spAutoFit/>
          </a:bodyPr>
          <a:lstStyle/>
          <a:p>
            <a:pPr algn="l">
              <a:defRPr sz="1800" b="0">
                <a:solidFill>
                  <a:srgbClr val="666666"/>
                </a:solidFill>
                <a:latin typeface="Calibri"/>
              </a:defRPr>
            </a:pPr>
            <a:r>
              <a:t>Three Investigations into Level 2 Pipeline Efficiency</a:t>
            </a:r>
          </a:p>
        </p:txBody>
      </p:sp>
      <p:sp>
        <p:nvSpPr>
          <p:cNvPr id="4" name="TextBox 3"/>
          <p:cNvSpPr txBox="1"/>
          <p:nvPr/>
        </p:nvSpPr>
        <p:spPr>
          <a:xfrm>
            <a:off x="731520" y="3200400"/>
            <a:ext cx="7680960" cy="1828800"/>
          </a:xfrm>
          <a:prstGeom prst="rect">
            <a:avLst/>
          </a:prstGeom>
          <a:noFill/>
        </p:spPr>
        <p:txBody>
          <a:bodyPr wrap="square">
            <a:spAutoFit/>
          </a:bodyPr>
          <a:lstStyle/>
          <a:p>
            <a:pPr>
              <a:spcAft>
                <a:spcPts val="400"/>
              </a:spcAft>
              <a:defRPr sz="1400" b="0">
                <a:solidFill>
                  <a:srgbClr val="333333"/>
                </a:solidFill>
                <a:latin typeface="Calibri"/>
              </a:defRPr>
            </a:pPr>
            <a:r>
              <a:t>1.  Optimization Loop: smarter convergence detection for L2</a:t>
            </a:r>
          </a:p>
          <a:p>
            <a:pPr>
              <a:spcAft>
                <a:spcPts val="400"/>
              </a:spcAft>
              <a:defRPr sz="1400" b="0">
                <a:solidFill>
                  <a:srgbClr val="333333"/>
                </a:solidFill>
                <a:latin typeface="Calibri"/>
              </a:defRPr>
            </a:pPr>
            <a:r>
              <a:t>2.  Compute-Then-Apply: memory access pattern refactoring (15-30% speedup)</a:t>
            </a:r>
          </a:p>
          <a:p>
            <a:pPr>
              <a:spcAft>
                <a:spcPts val="400"/>
              </a:spcAft>
              <a:defRPr sz="1400" b="0">
                <a:solidFill>
                  <a:srgbClr val="333333"/>
                </a:solidFill>
                <a:latin typeface="Calibri"/>
              </a:defRPr>
            </a:pPr>
            <a:r>
              <a:t>3.  3-Qubit Block Synthesis: separability splitting (-5% CX gates)</a:t>
            </a:r>
          </a:p>
        </p:txBody>
      </p:sp>
      <p:sp>
        <p:nvSpPr>
          <p:cNvPr id="5" name="TextBox 4"/>
          <p:cNvSpPr txBox="1"/>
          <p:nvPr/>
        </p:nvSpPr>
        <p:spPr>
          <a:xfrm>
            <a:off x="731520" y="5669280"/>
            <a:ext cx="7680960" cy="365760"/>
          </a:xfrm>
          <a:prstGeom prst="rect">
            <a:avLst/>
          </a:prstGeom>
          <a:noFill/>
        </p:spPr>
        <p:txBody>
          <a:bodyPr wrap="square">
            <a:spAutoFit/>
          </a:bodyPr>
          <a:lstStyle/>
          <a:p>
            <a:pPr algn="l">
              <a:defRPr sz="1200" b="0">
                <a:solidFill>
                  <a:srgbClr val="666666"/>
                </a:solidFill>
                <a:latin typeface="Calibri"/>
              </a:defRPr>
            </a:pPr>
            <a:r>
              <a:t>Sophia Wen  |  IBM Quantum  |  Benchpress + Qiskit fork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0530AD"/>
                </a:solidFill>
                <a:latin typeface="Calibri"/>
              </a:defRPr>
            </a:pPr>
            <a:r>
              <a:t>1. Optimization Loop: Smarter Convergence Detection for Level 2</a:t>
            </a:r>
          </a:p>
        </p:txBody>
      </p:sp>
      <p:sp>
        <p:nvSpPr>
          <p:cNvPr id="3" name="TextBox 2"/>
          <p:cNvSpPr txBox="1"/>
          <p:nvPr/>
        </p:nvSpPr>
        <p:spPr>
          <a:xfrm>
            <a:off x="457200" y="914400"/>
            <a:ext cx="3840480" cy="274320"/>
          </a:xfrm>
          <a:prstGeom prst="rect">
            <a:avLst/>
          </a:prstGeom>
          <a:noFill/>
        </p:spPr>
        <p:txBody>
          <a:bodyPr wrap="square">
            <a:spAutoFit/>
          </a:bodyPr>
          <a:lstStyle/>
          <a:p>
            <a:pPr algn="l">
              <a:defRPr sz="1600" b="1">
                <a:solidFill>
                  <a:srgbClr val="333333"/>
                </a:solidFill>
                <a:latin typeface="Calibri"/>
              </a:defRPr>
            </a:pPr>
            <a:r>
              <a:t>Problem</a:t>
            </a:r>
          </a:p>
        </p:txBody>
      </p:sp>
      <p:sp>
        <p:nvSpPr>
          <p:cNvPr id="4" name="TextBox 3"/>
          <p:cNvSpPr txBox="1"/>
          <p:nvPr/>
        </p:nvSpPr>
        <p:spPr>
          <a:xfrm>
            <a:off x="457200" y="1234440"/>
            <a:ext cx="3840480" cy="2011680"/>
          </a:xfrm>
          <a:prstGeom prst="rect">
            <a:avLst/>
          </a:prstGeom>
          <a:noFill/>
        </p:spPr>
        <p:txBody>
          <a:bodyPr wrap="square">
            <a:spAutoFit/>
          </a:bodyPr>
          <a:lstStyle/>
          <a:p>
            <a:pPr>
              <a:spcAft>
                <a:spcPts val="400"/>
              </a:spcAft>
              <a:defRPr sz="1200" b="0">
                <a:solidFill>
                  <a:srgbClr val="333333"/>
                </a:solidFill>
                <a:latin typeface="Calibri"/>
              </a:defRPr>
            </a:pPr>
            <a:r>
              <a:t>Level 2 uses FixedPoint(size) AND FixedPoint(depth)</a:t>
            </a:r>
          </a:p>
          <a:p>
            <a:pPr>
              <a:spcAft>
                <a:spcPts val="400"/>
              </a:spcAft>
              <a:defRPr sz="1200" b="0">
                <a:solidFill>
                  <a:srgbClr val="333333"/>
                </a:solidFill>
                <a:latin typeface="Calibri"/>
              </a:defRPr>
            </a:pPr>
            <a:r>
              <a:t>to detect convergence</a:t>
            </a:r>
          </a:p>
          <a:p>
            <a:pPr>
              <a:spcAft>
                <a:spcPts val="400"/>
              </a:spcAft>
              <a:defRPr sz="1200" b="0">
                <a:solidFill>
                  <a:srgbClr val="333333"/>
                </a:solidFill>
                <a:latin typeface="Calibri"/>
              </a:defRPr>
            </a:pPr>
            <a:r>
              <a:t>Always requires a redundant "confirmation" iteration</a:t>
            </a:r>
          </a:p>
          <a:p>
            <a:pPr>
              <a:spcAft>
                <a:spcPts val="400"/>
              </a:spcAft>
              <a:defRPr sz="1200" b="0">
                <a:solidFill>
                  <a:srgbClr val="333333"/>
                </a:solidFill>
                <a:latin typeface="Calibri"/>
              </a:defRPr>
            </a:pPr>
            <a:r>
              <a:t>that re-runs all passes just to verify metrics</a:t>
            </a:r>
          </a:p>
          <a:p>
            <a:pPr>
              <a:spcAft>
                <a:spcPts val="400"/>
              </a:spcAft>
              <a:defRPr sz="1200" b="0">
                <a:solidFill>
                  <a:srgbClr val="333333"/>
                </a:solidFill>
                <a:latin typeface="Calibri"/>
              </a:defRPr>
            </a:pPr>
            <a:r>
              <a:t>haven't changed</a:t>
            </a:r>
          </a:p>
          <a:p>
            <a:pPr>
              <a:spcAft>
                <a:spcPts val="400"/>
              </a:spcAft>
              <a:defRPr sz="1200" b="0">
                <a:solidFill>
                  <a:srgbClr val="333333"/>
                </a:solidFill>
                <a:latin typeface="Calibri"/>
              </a:defRPr>
            </a:pPr>
            <a:r>
              <a:t>The loop structure is sound -- the issue is the</a:t>
            </a:r>
          </a:p>
          <a:p>
            <a:pPr>
              <a:spcAft>
                <a:spcPts val="400"/>
              </a:spcAft>
              <a:defRPr sz="1200" b="0">
                <a:solidFill>
                  <a:srgbClr val="333333"/>
                </a:solidFill>
                <a:latin typeface="Calibri"/>
              </a:defRPr>
            </a:pPr>
            <a:r>
              <a:t>convergence check</a:t>
            </a:r>
          </a:p>
        </p:txBody>
      </p:sp>
      <p:sp>
        <p:nvSpPr>
          <p:cNvPr id="5" name="TextBox 4"/>
          <p:cNvSpPr txBox="1"/>
          <p:nvPr/>
        </p:nvSpPr>
        <p:spPr>
          <a:xfrm>
            <a:off x="4754880" y="914400"/>
            <a:ext cx="4114800" cy="274320"/>
          </a:xfrm>
          <a:prstGeom prst="rect">
            <a:avLst/>
          </a:prstGeom>
          <a:noFill/>
        </p:spPr>
        <p:txBody>
          <a:bodyPr wrap="square">
            <a:spAutoFit/>
          </a:bodyPr>
          <a:lstStyle/>
          <a:p>
            <a:pPr algn="l">
              <a:defRPr sz="1600" b="1">
                <a:solidFill>
                  <a:srgbClr val="1A803E"/>
                </a:solidFill>
                <a:latin typeface="Calibri"/>
              </a:defRPr>
            </a:pPr>
            <a:r>
              <a:t>Observation (13 benchmarks)</a:t>
            </a:r>
          </a:p>
        </p:txBody>
      </p:sp>
      <p:sp>
        <p:nvSpPr>
          <p:cNvPr id="6" name="TextBox 5"/>
          <p:cNvSpPr txBox="1"/>
          <p:nvPr/>
        </p:nvSpPr>
        <p:spPr>
          <a:xfrm>
            <a:off x="4754880" y="1234440"/>
            <a:ext cx="4114800" cy="2011680"/>
          </a:xfrm>
          <a:prstGeom prst="rect">
            <a:avLst/>
          </a:prstGeom>
          <a:noFill/>
        </p:spPr>
        <p:txBody>
          <a:bodyPr wrap="square">
            <a:spAutoFit/>
          </a:bodyPr>
          <a:lstStyle/>
          <a:p>
            <a:pPr>
              <a:spcAft>
                <a:spcPts val="400"/>
              </a:spcAft>
              <a:defRPr sz="1200" b="0">
                <a:solidFill>
                  <a:srgbClr val="333333"/>
                </a:solidFill>
                <a:latin typeface="Calibri"/>
              </a:defRPr>
            </a:pPr>
            <a:r>
              <a:t>On 13 circuits (QFT, QV, ESU2, QAOA, BV,</a:t>
            </a:r>
          </a:p>
          <a:p>
            <a:pPr>
              <a:spcAft>
                <a:spcPts val="400"/>
              </a:spcAft>
              <a:defRPr sz="1200" b="0">
                <a:solidFill>
                  <a:srgbClr val="333333"/>
                </a:solidFill>
                <a:latin typeface="Calibri"/>
              </a:defRPr>
            </a:pPr>
            <a:r>
              <a:t>Heisenberg at 50-100Q on FakeTorino):</a:t>
            </a:r>
          </a:p>
          <a:p>
            <a:pPr>
              <a:spcAft>
                <a:spcPts val="400"/>
              </a:spcAft>
              <a:defRPr sz="1200" b="0">
                <a:solidFill>
                  <a:srgbClr val="333333"/>
                </a:solidFill>
                <a:latin typeface="Calibri"/>
              </a:defRPr>
            </a:pPr>
            <a:r>
              <a:t>Pre-loop passes (ConsolidateBlocks, UnitarySynthesis)</a:t>
            </a:r>
          </a:p>
          <a:p>
            <a:pPr>
              <a:spcAft>
                <a:spcPts val="400"/>
              </a:spcAft>
              <a:defRPr sz="1200" b="0">
                <a:solidFill>
                  <a:srgbClr val="333333"/>
                </a:solidFill>
                <a:latin typeface="Calibri"/>
              </a:defRPr>
            </a:pPr>
            <a:r>
              <a:t>handle the bulk of 2Q gate reduction</a:t>
            </a:r>
          </a:p>
          <a:p>
            <a:pPr>
              <a:spcAft>
                <a:spcPts val="400"/>
              </a:spcAft>
              <a:defRPr sz="1200" b="0">
                <a:solidFill>
                  <a:srgbClr val="333333"/>
                </a:solidFill>
                <a:latin typeface="Calibri"/>
              </a:defRPr>
            </a:pPr>
            <a:r>
              <a:t>Final iteration is always a no-op confirmation</a:t>
            </a:r>
          </a:p>
          <a:p>
            <a:pPr>
              <a:spcAft>
                <a:spcPts val="400"/>
              </a:spcAft>
              <a:defRPr sz="1200" b="0">
                <a:solidFill>
                  <a:srgbClr val="333333"/>
                </a:solidFill>
                <a:latin typeface="Calibri"/>
              </a:defRPr>
            </a:pPr>
            <a:r>
              <a:t>Different workloads may behave differently</a:t>
            </a:r>
          </a:p>
        </p:txBody>
      </p:sp>
      <p:sp>
        <p:nvSpPr>
          <p:cNvPr id="7" name="TextBox 6"/>
          <p:cNvSpPr txBox="1"/>
          <p:nvPr/>
        </p:nvSpPr>
        <p:spPr>
          <a:xfrm>
            <a:off x="457200" y="3200400"/>
            <a:ext cx="8229600" cy="274320"/>
          </a:xfrm>
          <a:prstGeom prst="rect">
            <a:avLst/>
          </a:prstGeom>
          <a:noFill/>
        </p:spPr>
        <p:txBody>
          <a:bodyPr wrap="square">
            <a:spAutoFit/>
          </a:bodyPr>
          <a:lstStyle/>
          <a:p>
            <a:pPr algn="l">
              <a:defRPr sz="1400" b="1">
                <a:solidFill>
                  <a:srgbClr val="333333"/>
                </a:solidFill>
                <a:latin typeface="Calibri"/>
              </a:defRPr>
            </a:pPr>
            <a:r>
              <a:t>Changed-Flag Prototype: Iterations Saved, No Regressions</a:t>
            </a:r>
          </a:p>
        </p:txBody>
      </p:sp>
      <p:graphicFrame>
        <p:nvGraphicFramePr>
          <p:cNvPr id="8" name="Table 7"/>
          <p:cNvGraphicFramePr>
            <a:graphicFrameLocks noGrp="1"/>
          </p:cNvGraphicFramePr>
          <p:nvPr/>
        </p:nvGraphicFramePr>
        <p:xfrm>
          <a:off x="457200" y="3566160"/>
          <a:ext cx="7315200" cy="2103120"/>
        </p:xfrm>
        <a:graphic>
          <a:graphicData uri="http://schemas.openxmlformats.org/drawingml/2006/table">
            <a:tbl>
              <a:tblPr firstRow="1" bandRow="1">
                <a:tableStyleId>{5C22544A-7EE6-4342-B048-85BDC9FD1C3A}</a:tableStyleId>
              </a:tblPr>
              <a:tblGrid>
                <a:gridCol w="1828800"/>
                <a:gridCol w="1280160"/>
                <a:gridCol w="1463040"/>
                <a:gridCol w="1280160"/>
                <a:gridCol w="1463040"/>
              </a:tblGrid>
              <a:tr h="300445">
                <a:tc>
                  <a:txBody>
                    <a:bodyPr/>
                    <a:lstStyle/>
                    <a:p>
                      <a:pPr>
                        <a:defRPr sz="1100" b="1">
                          <a:solidFill>
                            <a:srgbClr val="FFFFFF"/>
                          </a:solidFill>
                          <a:latin typeface="Calibri"/>
                        </a:defRPr>
                      </a:pPr>
                      <a:r>
                        <a:t>Circuit</a:t>
                      </a:r>
                    </a:p>
                  </a:txBody>
                  <a:tcPr anchor="ctr">
                    <a:solidFill>
                      <a:srgbClr val="0530AD"/>
                    </a:solidFill>
                  </a:tcPr>
                </a:tc>
                <a:tc>
                  <a:txBody>
                    <a:bodyPr/>
                    <a:lstStyle/>
                    <a:p>
                      <a:pPr>
                        <a:defRPr sz="1100" b="1">
                          <a:solidFill>
                            <a:srgbClr val="FFFFFF"/>
                          </a:solidFill>
                          <a:latin typeface="Calibri"/>
                        </a:defRPr>
                      </a:pPr>
                      <a:r>
                        <a:t>FixedPoint Iters</a:t>
                      </a:r>
                    </a:p>
                  </a:txBody>
                  <a:tcPr anchor="ctr">
                    <a:solidFill>
                      <a:srgbClr val="0530AD"/>
                    </a:solidFill>
                  </a:tcPr>
                </a:tc>
                <a:tc>
                  <a:txBody>
                    <a:bodyPr/>
                    <a:lstStyle/>
                    <a:p>
                      <a:pPr>
                        <a:defRPr sz="1100" b="1">
                          <a:solidFill>
                            <a:srgbClr val="FFFFFF"/>
                          </a:solidFill>
                          <a:latin typeface="Calibri"/>
                        </a:defRPr>
                      </a:pPr>
                      <a:r>
                        <a:t>Changed-Flag Iters</a:t>
                      </a:r>
                    </a:p>
                  </a:txBody>
                  <a:tcPr anchor="ctr">
                    <a:solidFill>
                      <a:srgbClr val="0530AD"/>
                    </a:solidFill>
                  </a:tcPr>
                </a:tc>
                <a:tc>
                  <a:txBody>
                    <a:bodyPr/>
                    <a:lstStyle/>
                    <a:p>
                      <a:pPr>
                        <a:defRPr sz="1100" b="1">
                          <a:solidFill>
                            <a:srgbClr val="FFFFFF"/>
                          </a:solidFill>
                          <a:latin typeface="Calibri"/>
                        </a:defRPr>
                      </a:pPr>
                      <a:r>
                        <a:t>2Q Gates</a:t>
                      </a:r>
                    </a:p>
                  </a:txBody>
                  <a:tcPr anchor="ctr">
                    <a:solidFill>
                      <a:srgbClr val="0530AD"/>
                    </a:solidFill>
                  </a:tcPr>
                </a:tc>
                <a:tc>
                  <a:txBody>
                    <a:bodyPr/>
                    <a:lstStyle/>
                    <a:p>
                      <a:pPr>
                        <a:defRPr sz="1100" b="1">
                          <a:solidFill>
                            <a:srgbClr val="FFFFFF"/>
                          </a:solidFill>
                          <a:latin typeface="Calibri"/>
                        </a:defRPr>
                      </a:pPr>
                      <a:r>
                        <a:t>Regressed?</a:t>
                      </a:r>
                    </a:p>
                  </a:txBody>
                  <a:tcPr anchor="ctr">
                    <a:solidFill>
                      <a:srgbClr val="0530AD"/>
                    </a:solidFill>
                  </a:tcPr>
                </a:tc>
              </a:tr>
              <a:tr h="300445">
                <a:tc>
                  <a:txBody>
                    <a:bodyPr/>
                    <a:lstStyle/>
                    <a:p>
                      <a:pPr>
                        <a:defRPr sz="1100">
                          <a:solidFill>
                            <a:srgbClr val="333333"/>
                          </a:solidFill>
                          <a:latin typeface="Calibri"/>
                        </a:defRPr>
                      </a:pPr>
                      <a:r>
                        <a:t>QFT_100</a:t>
                      </a:r>
                    </a:p>
                  </a:txBody>
                  <a:tcPr anchor="ctr"/>
                </a:tc>
                <a:tc>
                  <a:txBody>
                    <a:bodyPr/>
                    <a:lstStyle/>
                    <a:p>
                      <a:pPr>
                        <a:defRPr sz="1100">
                          <a:solidFill>
                            <a:srgbClr val="333333"/>
                          </a:solidFill>
                          <a:latin typeface="Calibri"/>
                        </a:defRPr>
                      </a:pPr>
                      <a:r>
                        <a:t>3</a:t>
                      </a:r>
                    </a:p>
                  </a:txBody>
                  <a:tcPr anchor="ctr"/>
                </a:tc>
                <a:tc>
                  <a:txBody>
                    <a:bodyPr/>
                    <a:lstStyle/>
                    <a:p>
                      <a:pPr>
                        <a:defRPr sz="1100">
                          <a:solidFill>
                            <a:srgbClr val="333333"/>
                          </a:solidFill>
                          <a:latin typeface="Calibri"/>
                        </a:defRPr>
                      </a:pPr>
                      <a:r>
                        <a:t>2</a:t>
                      </a:r>
                    </a:p>
                  </a:txBody>
                  <a:tcPr anchor="ctr"/>
                </a:tc>
                <a:tc>
                  <a:txBody>
                    <a:bodyPr/>
                    <a:lstStyle/>
                    <a:p>
                      <a:pPr>
                        <a:defRPr sz="1100">
                          <a:solidFill>
                            <a:srgbClr val="333333"/>
                          </a:solidFill>
                          <a:latin typeface="Calibri"/>
                        </a:defRPr>
                      </a:pPr>
                      <a:r>
                        <a:t>9,528</a:t>
                      </a:r>
                    </a:p>
                  </a:txBody>
                  <a:tcPr anchor="ctr"/>
                </a:tc>
                <a:tc>
                  <a:txBody>
                    <a:bodyPr/>
                    <a:lstStyle/>
                    <a:p>
                      <a:pPr>
                        <a:defRPr sz="1100">
                          <a:solidFill>
                            <a:srgbClr val="333333"/>
                          </a:solidFill>
                          <a:latin typeface="Calibri"/>
                        </a:defRPr>
                      </a:pPr>
                      <a:r>
                        <a:t>No</a:t>
                      </a:r>
                    </a:p>
                  </a:txBody>
                  <a:tcPr anchor="ctr"/>
                </a:tc>
              </a:tr>
              <a:tr h="300445">
                <a:tc>
                  <a:txBody>
                    <a:bodyPr/>
                    <a:lstStyle/>
                    <a:p>
                      <a:pPr>
                        <a:defRPr sz="1100">
                          <a:solidFill>
                            <a:srgbClr val="333333"/>
                          </a:solidFill>
                          <a:latin typeface="Calibri"/>
                        </a:defRPr>
                      </a:pPr>
                      <a:r>
                        <a:t>QV_100</a:t>
                      </a:r>
                    </a:p>
                  </a:txBody>
                  <a:tcPr anchor="ctr">
                    <a:solidFill>
                      <a:srgbClr val="F5F5F5"/>
                    </a:solidFill>
                  </a:tcPr>
                </a:tc>
                <a:tc>
                  <a:txBody>
                    <a:bodyPr/>
                    <a:lstStyle/>
                    <a:p>
                      <a:pPr>
                        <a:defRPr sz="1100">
                          <a:solidFill>
                            <a:srgbClr val="333333"/>
                          </a:solidFill>
                          <a:latin typeface="Calibri"/>
                        </a:defRPr>
                      </a:pPr>
                      <a:r>
                        <a:t>2</a:t>
                      </a:r>
                    </a:p>
                  </a:txBody>
                  <a:tcPr anchor="ctr">
                    <a:solidFill>
                      <a:srgbClr val="F5F5F5"/>
                    </a:solidFill>
                  </a:tcPr>
                </a:tc>
                <a:tc>
                  <a:txBody>
                    <a:bodyPr/>
                    <a:lstStyle/>
                    <a:p>
                      <a:pPr>
                        <a:defRPr sz="1100">
                          <a:solidFill>
                            <a:srgbClr val="333333"/>
                          </a:solidFill>
                          <a:latin typeface="Calibri"/>
                        </a:defRPr>
                      </a:pPr>
                      <a:r>
                        <a:t>1</a:t>
                      </a:r>
                    </a:p>
                  </a:txBody>
                  <a:tcPr anchor="ctr">
                    <a:solidFill>
                      <a:srgbClr val="F5F5F5"/>
                    </a:solidFill>
                  </a:tcPr>
                </a:tc>
                <a:tc>
                  <a:txBody>
                    <a:bodyPr/>
                    <a:lstStyle/>
                    <a:p>
                      <a:pPr>
                        <a:defRPr sz="1100">
                          <a:solidFill>
                            <a:srgbClr val="333333"/>
                          </a:solidFill>
                          <a:latin typeface="Calibri"/>
                        </a:defRPr>
                      </a:pPr>
                      <a:r>
                        <a:t>96,474</a:t>
                      </a:r>
                    </a:p>
                  </a:txBody>
                  <a:tcPr anchor="ctr">
                    <a:solidFill>
                      <a:srgbClr val="F5F5F5"/>
                    </a:solidFill>
                  </a:tcPr>
                </a:tc>
                <a:tc>
                  <a:txBody>
                    <a:bodyPr/>
                    <a:lstStyle/>
                    <a:p>
                      <a:pPr>
                        <a:defRPr sz="1100">
                          <a:solidFill>
                            <a:srgbClr val="333333"/>
                          </a:solidFill>
                          <a:latin typeface="Calibri"/>
                        </a:defRPr>
                      </a:pPr>
                      <a:r>
                        <a:t>No</a:t>
                      </a:r>
                    </a:p>
                  </a:txBody>
                  <a:tcPr anchor="ctr">
                    <a:solidFill>
                      <a:srgbClr val="F5F5F5"/>
                    </a:solidFill>
                  </a:tcPr>
                </a:tc>
              </a:tr>
              <a:tr h="300445">
                <a:tc>
                  <a:txBody>
                    <a:bodyPr/>
                    <a:lstStyle/>
                    <a:p>
                      <a:pPr>
                        <a:defRPr sz="1100">
                          <a:solidFill>
                            <a:srgbClr val="333333"/>
                          </a:solidFill>
                          <a:latin typeface="Calibri"/>
                        </a:defRPr>
                      </a:pPr>
                      <a:r>
                        <a:t>EfficientSU2_100</a:t>
                      </a:r>
                    </a:p>
                  </a:txBody>
                  <a:tcPr anchor="ctr"/>
                </a:tc>
                <a:tc>
                  <a:txBody>
                    <a:bodyPr/>
                    <a:lstStyle/>
                    <a:p>
                      <a:pPr>
                        <a:defRPr sz="1100">
                          <a:solidFill>
                            <a:srgbClr val="333333"/>
                          </a:solidFill>
                          <a:latin typeface="Calibri"/>
                        </a:defRPr>
                      </a:pPr>
                      <a:r>
                        <a:t>2</a:t>
                      </a:r>
                    </a:p>
                  </a:txBody>
                  <a:tcPr anchor="ctr"/>
                </a:tc>
                <a:tc>
                  <a:txBody>
                    <a:bodyPr/>
                    <a:lstStyle/>
                    <a:p>
                      <a:pPr>
                        <a:defRPr sz="1100">
                          <a:solidFill>
                            <a:srgbClr val="333333"/>
                          </a:solidFill>
                          <a:latin typeface="Calibri"/>
                        </a:defRPr>
                      </a:pPr>
                      <a:r>
                        <a:t>1</a:t>
                      </a:r>
                    </a:p>
                  </a:txBody>
                  <a:tcPr anchor="ctr"/>
                </a:tc>
                <a:tc>
                  <a:txBody>
                    <a:bodyPr/>
                    <a:lstStyle/>
                    <a:p>
                      <a:pPr>
                        <a:defRPr sz="1100">
                          <a:solidFill>
                            <a:srgbClr val="333333"/>
                          </a:solidFill>
                          <a:latin typeface="Calibri"/>
                        </a:defRPr>
                      </a:pPr>
                      <a:r>
                        <a:t>297</a:t>
                      </a:r>
                    </a:p>
                  </a:txBody>
                  <a:tcPr anchor="ctr"/>
                </a:tc>
                <a:tc>
                  <a:txBody>
                    <a:bodyPr/>
                    <a:lstStyle/>
                    <a:p>
                      <a:pPr>
                        <a:defRPr sz="1100">
                          <a:solidFill>
                            <a:srgbClr val="333333"/>
                          </a:solidFill>
                          <a:latin typeface="Calibri"/>
                        </a:defRPr>
                      </a:pPr>
                      <a:r>
                        <a:t>No</a:t>
                      </a:r>
                    </a:p>
                  </a:txBody>
                  <a:tcPr anchor="ctr"/>
                </a:tc>
              </a:tr>
              <a:tr h="300445">
                <a:tc>
                  <a:txBody>
                    <a:bodyPr/>
                    <a:lstStyle/>
                    <a:p>
                      <a:pPr>
                        <a:defRPr sz="1100">
                          <a:solidFill>
                            <a:srgbClr val="333333"/>
                          </a:solidFill>
                          <a:latin typeface="Calibri"/>
                        </a:defRPr>
                      </a:pPr>
                      <a:r>
                        <a:t>QAOA_100</a:t>
                      </a:r>
                    </a:p>
                  </a:txBody>
                  <a:tcPr anchor="ctr">
                    <a:solidFill>
                      <a:srgbClr val="F5F5F5"/>
                    </a:solidFill>
                  </a:tcPr>
                </a:tc>
                <a:tc>
                  <a:txBody>
                    <a:bodyPr/>
                    <a:lstStyle/>
                    <a:p>
                      <a:pPr>
                        <a:defRPr sz="1100">
                          <a:solidFill>
                            <a:srgbClr val="333333"/>
                          </a:solidFill>
                          <a:latin typeface="Calibri"/>
                        </a:defRPr>
                      </a:pPr>
                      <a:r>
                        <a:t>3</a:t>
                      </a:r>
                    </a:p>
                  </a:txBody>
                  <a:tcPr anchor="ctr">
                    <a:solidFill>
                      <a:srgbClr val="F5F5F5"/>
                    </a:solidFill>
                  </a:tcPr>
                </a:tc>
                <a:tc>
                  <a:txBody>
                    <a:bodyPr/>
                    <a:lstStyle/>
                    <a:p>
                      <a:pPr>
                        <a:defRPr sz="1100">
                          <a:solidFill>
                            <a:srgbClr val="333333"/>
                          </a:solidFill>
                          <a:latin typeface="Calibri"/>
                        </a:defRPr>
                      </a:pPr>
                      <a:r>
                        <a:t>1</a:t>
                      </a:r>
                    </a:p>
                  </a:txBody>
                  <a:tcPr anchor="ctr">
                    <a:solidFill>
                      <a:srgbClr val="F5F5F5"/>
                    </a:solidFill>
                  </a:tcPr>
                </a:tc>
                <a:tc>
                  <a:txBody>
                    <a:bodyPr/>
                    <a:lstStyle/>
                    <a:p>
                      <a:pPr>
                        <a:defRPr sz="1100">
                          <a:solidFill>
                            <a:srgbClr val="333333"/>
                          </a:solidFill>
                          <a:latin typeface="Calibri"/>
                        </a:defRPr>
                      </a:pPr>
                      <a:r>
                        <a:t>186</a:t>
                      </a:r>
                    </a:p>
                  </a:txBody>
                  <a:tcPr anchor="ctr">
                    <a:solidFill>
                      <a:srgbClr val="F5F5F5"/>
                    </a:solidFill>
                  </a:tcPr>
                </a:tc>
                <a:tc>
                  <a:txBody>
                    <a:bodyPr/>
                    <a:lstStyle/>
                    <a:p>
                      <a:pPr>
                        <a:defRPr sz="1100">
                          <a:solidFill>
                            <a:srgbClr val="333333"/>
                          </a:solidFill>
                          <a:latin typeface="Calibri"/>
                        </a:defRPr>
                      </a:pPr>
                      <a:r>
                        <a:t>No</a:t>
                      </a:r>
                    </a:p>
                  </a:txBody>
                  <a:tcPr anchor="ctr">
                    <a:solidFill>
                      <a:srgbClr val="F5F5F5"/>
                    </a:solidFill>
                  </a:tcPr>
                </a:tc>
              </a:tr>
              <a:tr h="300445">
                <a:tc>
                  <a:txBody>
                    <a:bodyPr/>
                    <a:lstStyle/>
                    <a:p>
                      <a:pPr>
                        <a:defRPr sz="1100">
                          <a:solidFill>
                            <a:srgbClr val="333333"/>
                          </a:solidFill>
                          <a:latin typeface="Calibri"/>
                        </a:defRPr>
                      </a:pPr>
                      <a:r>
                        <a:t>BV_100</a:t>
                      </a:r>
                    </a:p>
                  </a:txBody>
                  <a:tcPr anchor="ctr"/>
                </a:tc>
                <a:tc>
                  <a:txBody>
                    <a:bodyPr/>
                    <a:lstStyle/>
                    <a:p>
                      <a:pPr>
                        <a:defRPr sz="1100">
                          <a:solidFill>
                            <a:srgbClr val="333333"/>
                          </a:solidFill>
                          <a:latin typeface="Calibri"/>
                        </a:defRPr>
                      </a:pPr>
                      <a:r>
                        <a:t>2</a:t>
                      </a:r>
                    </a:p>
                  </a:txBody>
                  <a:tcPr anchor="ctr"/>
                </a:tc>
                <a:tc>
                  <a:txBody>
                    <a:bodyPr/>
                    <a:lstStyle/>
                    <a:p>
                      <a:pPr>
                        <a:defRPr sz="1100">
                          <a:solidFill>
                            <a:srgbClr val="333333"/>
                          </a:solidFill>
                          <a:latin typeface="Calibri"/>
                        </a:defRPr>
                      </a:pPr>
                      <a:r>
                        <a:t>1</a:t>
                      </a:r>
                    </a:p>
                  </a:txBody>
                  <a:tcPr anchor="ctr"/>
                </a:tc>
                <a:tc>
                  <a:txBody>
                    <a:bodyPr/>
                    <a:lstStyle/>
                    <a:p>
                      <a:pPr>
                        <a:defRPr sz="1100">
                          <a:solidFill>
                            <a:srgbClr val="333333"/>
                          </a:solidFill>
                          <a:latin typeface="Calibri"/>
                        </a:defRPr>
                      </a:pPr>
                      <a:r>
                        <a:t>196</a:t>
                      </a:r>
                    </a:p>
                  </a:txBody>
                  <a:tcPr anchor="ctr"/>
                </a:tc>
                <a:tc>
                  <a:txBody>
                    <a:bodyPr/>
                    <a:lstStyle/>
                    <a:p>
                      <a:pPr>
                        <a:defRPr sz="1100">
                          <a:solidFill>
                            <a:srgbClr val="333333"/>
                          </a:solidFill>
                          <a:latin typeface="Calibri"/>
                        </a:defRPr>
                      </a:pPr>
                      <a:r>
                        <a:t>No</a:t>
                      </a:r>
                    </a:p>
                  </a:txBody>
                  <a:tcPr anchor="ctr"/>
                </a:tc>
              </a:tr>
              <a:tr h="300450">
                <a:tc>
                  <a:txBody>
                    <a:bodyPr/>
                    <a:lstStyle/>
                    <a:p>
                      <a:pPr>
                        <a:defRPr sz="1100">
                          <a:solidFill>
                            <a:srgbClr val="333333"/>
                          </a:solidFill>
                          <a:latin typeface="Calibri"/>
                        </a:defRPr>
                      </a:pPr>
                      <a:r>
                        <a:t>Heisenberg_100</a:t>
                      </a:r>
                    </a:p>
                  </a:txBody>
                  <a:tcPr anchor="ctr">
                    <a:solidFill>
                      <a:srgbClr val="F5F5F5"/>
                    </a:solidFill>
                  </a:tcPr>
                </a:tc>
                <a:tc>
                  <a:txBody>
                    <a:bodyPr/>
                    <a:lstStyle/>
                    <a:p>
                      <a:pPr>
                        <a:defRPr sz="1100">
                          <a:solidFill>
                            <a:srgbClr val="333333"/>
                          </a:solidFill>
                          <a:latin typeface="Calibri"/>
                        </a:defRPr>
                      </a:pPr>
                      <a:r>
                        <a:t>2</a:t>
                      </a:r>
                    </a:p>
                  </a:txBody>
                  <a:tcPr anchor="ctr">
                    <a:solidFill>
                      <a:srgbClr val="F5F5F5"/>
                    </a:solidFill>
                  </a:tcPr>
                </a:tc>
                <a:tc>
                  <a:txBody>
                    <a:bodyPr/>
                    <a:lstStyle/>
                    <a:p>
                      <a:pPr>
                        <a:defRPr sz="1100">
                          <a:solidFill>
                            <a:srgbClr val="333333"/>
                          </a:solidFill>
                          <a:latin typeface="Calibri"/>
                        </a:defRPr>
                      </a:pPr>
                      <a:r>
                        <a:t>1</a:t>
                      </a:r>
                    </a:p>
                  </a:txBody>
                  <a:tcPr anchor="ctr">
                    <a:solidFill>
                      <a:srgbClr val="F5F5F5"/>
                    </a:solidFill>
                  </a:tcPr>
                </a:tc>
                <a:tc>
                  <a:txBody>
                    <a:bodyPr/>
                    <a:lstStyle/>
                    <a:p>
                      <a:pPr>
                        <a:defRPr sz="1100">
                          <a:solidFill>
                            <a:srgbClr val="333333"/>
                          </a:solidFill>
                          <a:latin typeface="Calibri"/>
                        </a:defRPr>
                      </a:pPr>
                      <a:r>
                        <a:t>891</a:t>
                      </a:r>
                    </a:p>
                  </a:txBody>
                  <a:tcPr anchor="ctr">
                    <a:solidFill>
                      <a:srgbClr val="F5F5F5"/>
                    </a:solidFill>
                  </a:tcPr>
                </a:tc>
                <a:tc>
                  <a:txBody>
                    <a:bodyPr/>
                    <a:lstStyle/>
                    <a:p>
                      <a:pPr>
                        <a:defRPr sz="1100">
                          <a:solidFill>
                            <a:srgbClr val="333333"/>
                          </a:solidFill>
                          <a:latin typeface="Calibri"/>
                        </a:defRPr>
                      </a:pPr>
                      <a:r>
                        <a:t>No</a:t>
                      </a:r>
                    </a:p>
                  </a:txBody>
                  <a:tcPr anchor="ctr">
                    <a:solidFill>
                      <a:srgbClr val="F5F5F5"/>
                    </a:solidFill>
                  </a:tcPr>
                </a:tc>
              </a:tr>
            </a:tbl>
          </a:graphicData>
        </a:graphic>
      </p:graphicFrame>
      <p:sp>
        <p:nvSpPr>
          <p:cNvPr id="9" name="TextBox 8"/>
          <p:cNvSpPr txBox="1"/>
          <p:nvPr/>
        </p:nvSpPr>
        <p:spPr>
          <a:xfrm>
            <a:off x="457200" y="5852160"/>
            <a:ext cx="8229600" cy="457200"/>
          </a:xfrm>
          <a:prstGeom prst="rect">
            <a:avLst/>
          </a:prstGeom>
          <a:noFill/>
        </p:spPr>
        <p:txBody>
          <a:bodyPr wrap="square">
            <a:spAutoFit/>
          </a:bodyPr>
          <a:lstStyle/>
          <a:p>
            <a:pPr algn="l">
              <a:defRPr sz="1100" b="0">
                <a:solidFill>
                  <a:srgbClr val="666666"/>
                </a:solidFill>
                <a:latin typeface="Calibri"/>
              </a:defRPr>
            </a:pPr>
            <a:r>
              <a:t>Proposal: Replace FixedPoint with a direct "changed" flag -- each pass reports whether it modified 2Q gates, and the loop exits when no pass reports changes. Preserves the loop for circuits where later iterations do find opportunities. Needs validation on broader circuit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0530AD"/>
                </a:solidFill>
                <a:latin typeface="Calibri"/>
              </a:defRPr>
            </a:pPr>
            <a:r>
              <a:t>2. Compute-Then-Apply: Batching DAG Access for Cache Efficiency</a:t>
            </a:r>
          </a:p>
        </p:txBody>
      </p:sp>
      <p:sp>
        <p:nvSpPr>
          <p:cNvPr id="3" name="TextBox 2"/>
          <p:cNvSpPr txBox="1"/>
          <p:nvPr/>
        </p:nvSpPr>
        <p:spPr>
          <a:xfrm>
            <a:off x="457200" y="777240"/>
            <a:ext cx="8229600" cy="365760"/>
          </a:xfrm>
          <a:prstGeom prst="rect">
            <a:avLst/>
          </a:prstGeom>
          <a:noFill/>
        </p:spPr>
        <p:txBody>
          <a:bodyPr wrap="square">
            <a:spAutoFit/>
          </a:bodyPr>
          <a:lstStyle/>
          <a:p>
            <a:pPr algn="l">
              <a:defRPr sz="1200" b="0">
                <a:solidFill>
                  <a:srgbClr val="666666"/>
                </a:solidFill>
                <a:latin typeface="Calibri"/>
              </a:defRPr>
            </a:pPr>
            <a:r>
              <a:t>Three most expensive optimization passes: ConsolidateBlocks (51-75%), Optimize1qGatesDecomposition (6-15%), CommutativeCancellation (6-15%)</a:t>
            </a:r>
          </a:p>
        </p:txBody>
      </p:sp>
      <p:sp>
        <p:nvSpPr>
          <p:cNvPr id="4" name="Rounded Rectangle 3"/>
          <p:cNvSpPr/>
          <p:nvPr/>
        </p:nvSpPr>
        <p:spPr>
          <a:xfrm>
            <a:off x="365760" y="1371600"/>
            <a:ext cx="3931920" cy="2011680"/>
          </a:xfrm>
          <a:prstGeom prst="roundRect">
            <a:avLst/>
          </a:prstGeom>
          <a:solidFill>
            <a:srgbClr val="F8F8F8"/>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7320"/>
            <a:ext cx="3749040" cy="228600"/>
          </a:xfrm>
          <a:prstGeom prst="rect">
            <a:avLst/>
          </a:prstGeom>
          <a:noFill/>
        </p:spPr>
        <p:txBody>
          <a:bodyPr wrap="square">
            <a:spAutoFit/>
          </a:bodyPr>
          <a:lstStyle/>
          <a:p>
            <a:pPr algn="l">
              <a:defRPr sz="900" b="1">
                <a:solidFill>
                  <a:srgbClr val="666666"/>
                </a:solidFill>
                <a:latin typeface="Calibri"/>
              </a:defRPr>
            </a:pPr>
            <a:r>
              <a:t>BEFORE: Interleaved read-compute-write</a:t>
            </a:r>
          </a:p>
        </p:txBody>
      </p:sp>
      <p:sp>
        <p:nvSpPr>
          <p:cNvPr id="6" name="TextBox 5"/>
          <p:cNvSpPr txBox="1"/>
          <p:nvPr/>
        </p:nvSpPr>
        <p:spPr>
          <a:xfrm>
            <a:off x="502920" y="1627632"/>
            <a:ext cx="3657600" cy="1691640"/>
          </a:xfrm>
          <a:prstGeom prst="rect">
            <a:avLst/>
          </a:prstGeom>
          <a:noFill/>
        </p:spPr>
        <p:txBody>
          <a:bodyPr wrap="square">
            <a:spAutoFit/>
          </a:bodyPr>
          <a:lstStyle/>
          <a:p>
            <a:pPr>
              <a:spcAft>
                <a:spcPts val="100"/>
              </a:spcAft>
              <a:defRPr sz="900">
                <a:solidFill>
                  <a:srgbClr val="333333"/>
                </a:solidFill>
                <a:latin typeface="Courier New"/>
              </a:defRPr>
            </a:pPr>
            <a:r>
              <a:t>for item in items:</a:t>
            </a:r>
          </a:p>
          <a:p>
            <a:pPr>
              <a:spcAft>
                <a:spcPts val="100"/>
              </a:spcAft>
              <a:defRPr sz="900">
                <a:solidFill>
                  <a:srgbClr val="333333"/>
                </a:solidFill>
                <a:latin typeface="Courier New"/>
              </a:defRPr>
            </a:pPr>
            <a:r>
              <a:t>    result = read_dag(item)   # READ</a:t>
            </a:r>
          </a:p>
          <a:p>
            <a:pPr>
              <a:spcAft>
                <a:spcPts val="100"/>
              </a:spcAft>
              <a:defRPr sz="900">
                <a:solidFill>
                  <a:srgbClr val="333333"/>
                </a:solidFill>
                <a:latin typeface="Courier New"/>
              </a:defRPr>
            </a:pPr>
            <a:r>
              <a:t>    compute(result)           # COMPUTE</a:t>
            </a:r>
          </a:p>
          <a:p>
            <a:pPr>
              <a:spcAft>
                <a:spcPts val="100"/>
              </a:spcAft>
              <a:defRPr sz="900">
                <a:solidFill>
                  <a:srgbClr val="333333"/>
                </a:solidFill>
                <a:latin typeface="Courier New"/>
              </a:defRPr>
            </a:pPr>
            <a:r>
              <a:t>    mutate_dag(result)        # WRITE</a:t>
            </a:r>
          </a:p>
          <a:p>
            <a:pPr>
              <a:spcAft>
                <a:spcPts val="100"/>
              </a:spcAft>
              <a:defRPr sz="900">
                <a:solidFill>
                  <a:srgbClr val="333333"/>
                </a:solidFill>
                <a:latin typeface="Courier New"/>
              </a:defRPr>
            </a:pPr>
            <a:r>
              <a:t>    # next read hits cold cache</a:t>
            </a:r>
          </a:p>
          <a:p>
            <a:pPr>
              <a:spcAft>
                <a:spcPts val="100"/>
              </a:spcAft>
              <a:defRPr sz="900">
                <a:solidFill>
                  <a:srgbClr val="333333"/>
                </a:solidFill>
                <a:latin typeface="Courier New"/>
              </a:defRPr>
            </a:pPr>
            <a:r>
              <a:t>    # (edges/nodes just modified)</a:t>
            </a:r>
          </a:p>
        </p:txBody>
      </p:sp>
      <p:sp>
        <p:nvSpPr>
          <p:cNvPr id="7" name="Rounded Rectangle 6"/>
          <p:cNvSpPr/>
          <p:nvPr/>
        </p:nvSpPr>
        <p:spPr>
          <a:xfrm>
            <a:off x="4663440" y="1371600"/>
            <a:ext cx="4114800" cy="2011680"/>
          </a:xfrm>
          <a:prstGeom prst="roundRect">
            <a:avLst/>
          </a:prstGeom>
          <a:solidFill>
            <a:srgbClr val="F8F8F8"/>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417320"/>
            <a:ext cx="3931920" cy="228600"/>
          </a:xfrm>
          <a:prstGeom prst="rect">
            <a:avLst/>
          </a:prstGeom>
          <a:noFill/>
        </p:spPr>
        <p:txBody>
          <a:bodyPr wrap="square">
            <a:spAutoFit/>
          </a:bodyPr>
          <a:lstStyle/>
          <a:p>
            <a:pPr algn="l">
              <a:defRPr sz="900" b="1">
                <a:solidFill>
                  <a:srgbClr val="666666"/>
                </a:solidFill>
                <a:latin typeface="Calibri"/>
              </a:defRPr>
            </a:pPr>
            <a:r>
              <a:t>AFTER: Batched compute-then-apply</a:t>
            </a:r>
          </a:p>
        </p:txBody>
      </p:sp>
      <p:sp>
        <p:nvSpPr>
          <p:cNvPr id="9" name="TextBox 8"/>
          <p:cNvSpPr txBox="1"/>
          <p:nvPr/>
        </p:nvSpPr>
        <p:spPr>
          <a:xfrm>
            <a:off x="4800600" y="1627632"/>
            <a:ext cx="3840480" cy="1691640"/>
          </a:xfrm>
          <a:prstGeom prst="rect">
            <a:avLst/>
          </a:prstGeom>
          <a:noFill/>
        </p:spPr>
        <p:txBody>
          <a:bodyPr wrap="square">
            <a:spAutoFit/>
          </a:bodyPr>
          <a:lstStyle/>
          <a:p>
            <a:pPr>
              <a:spcAft>
                <a:spcPts val="100"/>
              </a:spcAft>
              <a:defRPr sz="900">
                <a:solidFill>
                  <a:srgbClr val="333333"/>
                </a:solidFill>
                <a:latin typeface="Courier New"/>
              </a:defRPr>
            </a:pPr>
            <a:r>
              <a:t># Phase 1: compute (DAG stable, cache warm)</a:t>
            </a:r>
          </a:p>
          <a:p>
            <a:pPr>
              <a:spcAft>
                <a:spcPts val="100"/>
              </a:spcAft>
              <a:defRPr sz="900">
                <a:solidFill>
                  <a:srgbClr val="333333"/>
                </a:solidFill>
                <a:latin typeface="Courier New"/>
              </a:defRPr>
            </a:pPr>
            <a:r>
              <a:t>results = []</a:t>
            </a:r>
          </a:p>
          <a:p>
            <a:pPr>
              <a:spcAft>
                <a:spcPts val="100"/>
              </a:spcAft>
              <a:defRPr sz="900">
                <a:solidFill>
                  <a:srgbClr val="333333"/>
                </a:solidFill>
                <a:latin typeface="Courier New"/>
              </a:defRPr>
            </a:pPr>
            <a:r>
              <a:t>for item in items:</a:t>
            </a:r>
          </a:p>
          <a:p>
            <a:pPr>
              <a:spcAft>
                <a:spcPts val="100"/>
              </a:spcAft>
              <a:defRPr sz="900">
                <a:solidFill>
                  <a:srgbClr val="333333"/>
                </a:solidFill>
                <a:latin typeface="Courier New"/>
              </a:defRPr>
            </a:pPr>
            <a:r>
              <a:t>    results.push(read_dag(item) + compute)</a:t>
            </a:r>
          </a:p>
          <a:p>
            <a:pPr>
              <a:spcAft>
                <a:spcPts val="100"/>
              </a:spcAft>
              <a:defRPr sz="900">
                <a:solidFill>
                  <a:srgbClr val="333333"/>
                </a:solidFill>
                <a:latin typeface="Courier New"/>
              </a:defRPr>
            </a:pPr>
          </a:p>
          <a:p>
            <a:pPr>
              <a:spcAft>
                <a:spcPts val="100"/>
              </a:spcAft>
              <a:defRPr sz="900">
                <a:solidFill>
                  <a:srgbClr val="333333"/>
                </a:solidFill>
                <a:latin typeface="Courier New"/>
              </a:defRPr>
            </a:pPr>
            <a:r>
              <a:t># Phase 2: apply (batch all mutations)</a:t>
            </a:r>
          </a:p>
          <a:p>
            <a:pPr>
              <a:spcAft>
                <a:spcPts val="100"/>
              </a:spcAft>
              <a:defRPr sz="900">
                <a:solidFill>
                  <a:srgbClr val="333333"/>
                </a:solidFill>
                <a:latin typeface="Courier New"/>
              </a:defRPr>
            </a:pPr>
            <a:r>
              <a:t>for result in results:</a:t>
            </a:r>
          </a:p>
          <a:p>
            <a:pPr>
              <a:spcAft>
                <a:spcPts val="100"/>
              </a:spcAft>
              <a:defRPr sz="900">
                <a:solidFill>
                  <a:srgbClr val="333333"/>
                </a:solidFill>
                <a:latin typeface="Courier New"/>
              </a:defRPr>
            </a:pPr>
            <a:r>
              <a:t>    mutate_dag(result)</a:t>
            </a:r>
          </a:p>
        </p:txBody>
      </p:sp>
      <p:sp>
        <p:nvSpPr>
          <p:cNvPr id="10" name="Rounded Rectangle 9"/>
          <p:cNvSpPr/>
          <p:nvPr/>
        </p:nvSpPr>
        <p:spPr>
          <a:xfrm>
            <a:off x="365760" y="3611880"/>
            <a:ext cx="8412480" cy="640080"/>
          </a:xfrm>
          <a:prstGeom prst="roundRect">
            <a:avLst/>
          </a:prstGeom>
          <a:solidFill>
            <a:srgbClr val="E8F0FE"/>
          </a:solidFill>
          <a:ln w="19050">
            <a:solidFill>
              <a:srgbClr val="0062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333333"/>
                </a:solidFill>
                <a:latin typeface="Calibri"/>
              </a:defRPr>
            </a:pPr>
            <a:r>
              <a:t>Key insight: Speedup comes from memory access patterns, not threading. remove_1q_sequence() / replace_block() / remove_op_node() modify petgraph's StableGraph edge lists after every item, invalidating CPU cache lines. Batching all reads first keeps the cache warm. Rayon ON vs OFF shows no difference.</a:t>
            </a:r>
          </a:p>
        </p:txBody>
      </p:sp>
      <p:sp>
        <p:nvSpPr>
          <p:cNvPr id="11" name="TextBox 10"/>
          <p:cNvSpPr txBox="1"/>
          <p:nvPr/>
        </p:nvSpPr>
        <p:spPr>
          <a:xfrm>
            <a:off x="457200" y="4480560"/>
            <a:ext cx="8229600" cy="274320"/>
          </a:xfrm>
          <a:prstGeom prst="rect">
            <a:avLst/>
          </a:prstGeom>
          <a:noFill/>
        </p:spPr>
        <p:txBody>
          <a:bodyPr wrap="square">
            <a:spAutoFit/>
          </a:bodyPr>
          <a:lstStyle/>
          <a:p>
            <a:pPr algn="l">
              <a:defRPr sz="1300" b="1">
                <a:solidFill>
                  <a:srgbClr val="333333"/>
                </a:solidFill>
                <a:latin typeface="Calibri"/>
              </a:defRPr>
            </a:pPr>
            <a:r>
              <a:t>Passes Refactored (all Rust, ~470 lines changed):</a:t>
            </a:r>
          </a:p>
        </p:txBody>
      </p:sp>
      <p:sp>
        <p:nvSpPr>
          <p:cNvPr id="12" name="TextBox 11"/>
          <p:cNvSpPr txBox="1"/>
          <p:nvPr/>
        </p:nvSpPr>
        <p:spPr>
          <a:xfrm>
            <a:off x="457200" y="4800600"/>
            <a:ext cx="8229600" cy="1371600"/>
          </a:xfrm>
          <a:prstGeom prst="rect">
            <a:avLst/>
          </a:prstGeom>
          <a:noFill/>
        </p:spPr>
        <p:txBody>
          <a:bodyPr wrap="square">
            <a:spAutoFit/>
          </a:bodyPr>
          <a:lstStyle/>
          <a:p>
            <a:pPr>
              <a:spcAft>
                <a:spcPts val="200"/>
              </a:spcAft>
              <a:defRPr sz="1100" b="0">
                <a:solidFill>
                  <a:srgbClr val="666666"/>
                </a:solidFill>
                <a:latin typeface="Calibri"/>
              </a:defRPr>
            </a:pPr>
            <a:r>
              <a:t>Optimize1qGatesDecomposition: extract process_run(), pre-compute basis data, parallel threshold 500 runs</a:t>
            </a:r>
          </a:p>
          <a:p>
            <a:pPr>
              <a:spcAft>
                <a:spcPts val="200"/>
              </a:spcAft>
              <a:defRPr sz="1100" b="0">
                <a:solidFill>
                  <a:srgbClr val="666666"/>
                </a:solidFill>
                <a:latin typeface="Calibri"/>
              </a:defRPr>
            </a:pPr>
            <a:r>
              <a:t>CommutationAnalysis: extract per-wire function, &amp;mut self -&gt; &amp;self on CommutationChecker, parallel threshold 100 qubits</a:t>
            </a:r>
          </a:p>
          <a:p>
            <a:pPr>
              <a:spcAft>
                <a:spcPts val="200"/>
              </a:spcAft>
              <a:defRPr sz="1100" b="0">
                <a:solidFill>
                  <a:srgbClr val="666666"/>
                </a:solidFill>
                <a:latin typeface="Calibri"/>
              </a:defRPr>
            </a:pPr>
            <a:r>
              <a:t>ConsolidateBlocks: TwoQBlockAction enum, 3-phase (classify/compute/apply), parallel threshold 200 blocks</a:t>
            </a:r>
          </a:p>
        </p:txBody>
      </p:sp>
      <p:sp>
        <p:nvSpPr>
          <p:cNvPr id="13" name="TextBox 12"/>
          <p:cNvSpPr txBox="1"/>
          <p:nvPr/>
        </p:nvSpPr>
        <p:spPr>
          <a:xfrm>
            <a:off x="457200" y="5943600"/>
            <a:ext cx="8229600" cy="274320"/>
          </a:xfrm>
          <a:prstGeom prst="rect">
            <a:avLst/>
          </a:prstGeom>
          <a:noFill/>
        </p:spPr>
        <p:txBody>
          <a:bodyPr wrap="square">
            <a:spAutoFit/>
          </a:bodyPr>
          <a:lstStyle/>
          <a:p>
            <a:pPr algn="l">
              <a:defRPr sz="1000" b="0">
                <a:solidFill>
                  <a:srgbClr val="666666"/>
                </a:solidFill>
                <a:latin typeface="Calibri"/>
              </a:defRPr>
            </a:pPr>
            <a:r>
              <a:t>Branch: parallel-optimization-passes  |  Base: 03c640f73  |  Full diff: 03c640f73...ea4abc77c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0530AD"/>
                </a:solidFill>
                <a:latin typeface="Calibri"/>
              </a:defRPr>
            </a:pPr>
            <a:r>
              <a:t>2. Compute-Then-Apply: Benchmark Results</a:t>
            </a:r>
          </a:p>
        </p:txBody>
      </p:sp>
      <p:sp>
        <p:nvSpPr>
          <p:cNvPr id="3" name="TextBox 2"/>
          <p:cNvSpPr txBox="1"/>
          <p:nvPr/>
        </p:nvSpPr>
        <p:spPr>
          <a:xfrm>
            <a:off x="457200" y="777240"/>
            <a:ext cx="8229600" cy="274320"/>
          </a:xfrm>
          <a:prstGeom prst="rect">
            <a:avLst/>
          </a:prstGeom>
          <a:noFill/>
        </p:spPr>
        <p:txBody>
          <a:bodyPr wrap="square">
            <a:spAutoFit/>
          </a:bodyPr>
          <a:lstStyle/>
          <a:p>
            <a:pPr algn="l">
              <a:defRPr sz="1200" b="0">
                <a:solidFill>
                  <a:srgbClr val="666666"/>
                </a:solidFill>
                <a:latin typeface="Calibri"/>
              </a:defRPr>
            </a:pPr>
            <a:r>
              <a:t>FakeTorino (133Q heavy-hex), optimization level 2, 5 runs per circuit, mean reported</a:t>
            </a:r>
          </a:p>
        </p:txBody>
      </p:sp>
      <p:sp>
        <p:nvSpPr>
          <p:cNvPr id="4" name="TextBox 3"/>
          <p:cNvSpPr txBox="1"/>
          <p:nvPr/>
        </p:nvSpPr>
        <p:spPr>
          <a:xfrm>
            <a:off x="274320" y="1188720"/>
            <a:ext cx="4114800" cy="274320"/>
          </a:xfrm>
          <a:prstGeom prst="rect">
            <a:avLst/>
          </a:prstGeom>
          <a:noFill/>
        </p:spPr>
        <p:txBody>
          <a:bodyPr wrap="square">
            <a:spAutoFit/>
          </a:bodyPr>
          <a:lstStyle/>
          <a:p>
            <a:pPr algn="l">
              <a:defRPr sz="1200" b="1">
                <a:solidFill>
                  <a:srgbClr val="333333"/>
                </a:solidFill>
                <a:latin typeface="Calibri"/>
              </a:defRPr>
            </a:pPr>
            <a:r>
              <a:t>Remote Server (Intel Xeon, 160 vCPUs) -- Rayon ON</a:t>
            </a:r>
          </a:p>
        </p:txBody>
      </p:sp>
      <p:graphicFrame>
        <p:nvGraphicFramePr>
          <p:cNvPr id="5" name="Table 4"/>
          <p:cNvGraphicFramePr>
            <a:graphicFrameLocks noGrp="1"/>
          </p:cNvGraphicFramePr>
          <p:nvPr/>
        </p:nvGraphicFramePr>
        <p:xfrm>
          <a:off x="274320" y="1508760"/>
          <a:ext cx="3840480" cy="2194560"/>
        </p:xfrm>
        <a:graphic>
          <a:graphicData uri="http://schemas.openxmlformats.org/drawingml/2006/table">
            <a:tbl>
              <a:tblPr firstRow="1" bandRow="1">
                <a:tableStyleId>{5C22544A-7EE6-4342-B048-85BDC9FD1C3A}</a:tableStyleId>
              </a:tblPr>
              <a:tblGrid>
                <a:gridCol w="1097280"/>
                <a:gridCol w="914400"/>
                <a:gridCol w="914400"/>
                <a:gridCol w="914400"/>
              </a:tblGrid>
              <a:tr h="313508">
                <a:tc>
                  <a:txBody>
                    <a:bodyPr/>
                    <a:lstStyle/>
                    <a:p>
                      <a:pPr>
                        <a:defRPr sz="1100" b="1">
                          <a:solidFill>
                            <a:srgbClr val="FFFFFF"/>
                          </a:solidFill>
                          <a:latin typeface="Calibri"/>
                        </a:defRPr>
                      </a:pPr>
                      <a:r>
                        <a:t>Circuit</a:t>
                      </a:r>
                    </a:p>
                  </a:txBody>
                  <a:tcPr anchor="ctr">
                    <a:solidFill>
                      <a:srgbClr val="0530AD"/>
                    </a:solidFill>
                  </a:tcPr>
                </a:tc>
                <a:tc>
                  <a:txBody>
                    <a:bodyPr/>
                    <a:lstStyle/>
                    <a:p>
                      <a:pPr>
                        <a:defRPr sz="1100" b="1">
                          <a:solidFill>
                            <a:srgbClr val="FFFFFF"/>
                          </a:solidFill>
                          <a:latin typeface="Calibri"/>
                        </a:defRPr>
                      </a:pPr>
                      <a:r>
                        <a:t>Main (s)</a:t>
                      </a:r>
                    </a:p>
                  </a:txBody>
                  <a:tcPr anchor="ctr">
                    <a:solidFill>
                      <a:srgbClr val="0530AD"/>
                    </a:solidFill>
                  </a:tcPr>
                </a:tc>
                <a:tc>
                  <a:txBody>
                    <a:bodyPr/>
                    <a:lstStyle/>
                    <a:p>
                      <a:pPr>
                        <a:defRPr sz="1100" b="1">
                          <a:solidFill>
                            <a:srgbClr val="FFFFFF"/>
                          </a:solidFill>
                          <a:latin typeface="Calibri"/>
                        </a:defRPr>
                      </a:pPr>
                      <a:r>
                        <a:t>Ours (s)</a:t>
                      </a:r>
                    </a:p>
                  </a:txBody>
                  <a:tcPr anchor="ctr">
                    <a:solidFill>
                      <a:srgbClr val="0530AD"/>
                    </a:solidFill>
                  </a:tcPr>
                </a:tc>
                <a:tc>
                  <a:txBody>
                    <a:bodyPr/>
                    <a:lstStyle/>
                    <a:p>
                      <a:pPr>
                        <a:defRPr sz="1100" b="1">
                          <a:solidFill>
                            <a:srgbClr val="FFFFFF"/>
                          </a:solidFill>
                          <a:latin typeface="Calibri"/>
                        </a:defRPr>
                      </a:pPr>
                      <a:r>
                        <a:t>Speedup</a:t>
                      </a:r>
                    </a:p>
                  </a:txBody>
                  <a:tcPr anchor="ctr">
                    <a:solidFill>
                      <a:srgbClr val="0530AD"/>
                    </a:solidFill>
                  </a:tcPr>
                </a:tc>
              </a:tr>
              <a:tr h="313508">
                <a:tc>
                  <a:txBody>
                    <a:bodyPr/>
                    <a:lstStyle/>
                    <a:p>
                      <a:pPr>
                        <a:defRPr sz="1100">
                          <a:solidFill>
                            <a:srgbClr val="333333"/>
                          </a:solidFill>
                          <a:latin typeface="Calibri"/>
                        </a:defRPr>
                      </a:pPr>
                      <a:r>
                        <a:t>QFT-50</a:t>
                      </a:r>
                    </a:p>
                  </a:txBody>
                  <a:tcPr anchor="ctr"/>
                </a:tc>
                <a:tc>
                  <a:txBody>
                    <a:bodyPr/>
                    <a:lstStyle/>
                    <a:p>
                      <a:pPr>
                        <a:defRPr sz="1100">
                          <a:solidFill>
                            <a:srgbClr val="333333"/>
                          </a:solidFill>
                          <a:latin typeface="Calibri"/>
                        </a:defRPr>
                      </a:pPr>
                      <a:r>
                        <a:t>2.626</a:t>
                      </a:r>
                    </a:p>
                  </a:txBody>
                  <a:tcPr anchor="ctr"/>
                </a:tc>
                <a:tc>
                  <a:txBody>
                    <a:bodyPr/>
                    <a:lstStyle/>
                    <a:p>
                      <a:pPr>
                        <a:defRPr sz="1100">
                          <a:solidFill>
                            <a:srgbClr val="333333"/>
                          </a:solidFill>
                          <a:latin typeface="Calibri"/>
                        </a:defRPr>
                      </a:pPr>
                      <a:r>
                        <a:t>2.051</a:t>
                      </a:r>
                    </a:p>
                  </a:txBody>
                  <a:tcPr anchor="ctr"/>
                </a:tc>
                <a:tc>
                  <a:txBody>
                    <a:bodyPr/>
                    <a:lstStyle/>
                    <a:p>
                      <a:pPr>
                        <a:defRPr sz="1100">
                          <a:solidFill>
                            <a:srgbClr val="333333"/>
                          </a:solidFill>
                          <a:latin typeface="Calibri"/>
                        </a:defRPr>
                      </a:pPr>
                      <a:r>
                        <a:t>1.28x</a:t>
                      </a:r>
                    </a:p>
                  </a:txBody>
                  <a:tcPr anchor="ctr"/>
                </a:tc>
              </a:tr>
              <a:tr h="313508">
                <a:tc>
                  <a:txBody>
                    <a:bodyPr/>
                    <a:lstStyle/>
                    <a:p>
                      <a:pPr>
                        <a:defRPr sz="1100">
                          <a:solidFill>
                            <a:srgbClr val="333333"/>
                          </a:solidFill>
                          <a:latin typeface="Calibri"/>
                        </a:defRPr>
                      </a:pPr>
                      <a:r>
                        <a:t>QFT-100</a:t>
                      </a:r>
                    </a:p>
                  </a:txBody>
                  <a:tcPr anchor="ctr">
                    <a:solidFill>
                      <a:srgbClr val="F5F5F5"/>
                    </a:solidFill>
                  </a:tcPr>
                </a:tc>
                <a:tc>
                  <a:txBody>
                    <a:bodyPr/>
                    <a:lstStyle/>
                    <a:p>
                      <a:pPr>
                        <a:defRPr sz="1100">
                          <a:solidFill>
                            <a:srgbClr val="333333"/>
                          </a:solidFill>
                          <a:latin typeface="Calibri"/>
                        </a:defRPr>
                      </a:pPr>
                      <a:r>
                        <a:t>6.321</a:t>
                      </a:r>
                    </a:p>
                  </a:txBody>
                  <a:tcPr anchor="ctr">
                    <a:solidFill>
                      <a:srgbClr val="F5F5F5"/>
                    </a:solidFill>
                  </a:tcPr>
                </a:tc>
                <a:tc>
                  <a:txBody>
                    <a:bodyPr/>
                    <a:lstStyle/>
                    <a:p>
                      <a:pPr>
                        <a:defRPr sz="1100">
                          <a:solidFill>
                            <a:srgbClr val="333333"/>
                          </a:solidFill>
                          <a:latin typeface="Calibri"/>
                        </a:defRPr>
                      </a:pPr>
                      <a:r>
                        <a:t>4.605</a:t>
                      </a:r>
                    </a:p>
                  </a:txBody>
                  <a:tcPr anchor="ctr">
                    <a:solidFill>
                      <a:srgbClr val="F5F5F5"/>
                    </a:solidFill>
                  </a:tcPr>
                </a:tc>
                <a:tc>
                  <a:txBody>
                    <a:bodyPr/>
                    <a:lstStyle/>
                    <a:p>
                      <a:pPr>
                        <a:defRPr sz="1100" b="1">
                          <a:solidFill>
                            <a:srgbClr val="1A803E"/>
                          </a:solidFill>
                          <a:latin typeface="Calibri"/>
                        </a:defRPr>
                      </a:pPr>
                      <a:r>
                        <a:t>1.37x</a:t>
                      </a:r>
                    </a:p>
                  </a:txBody>
                  <a:tcPr anchor="ctr">
                    <a:solidFill>
                      <a:srgbClr val="F5F5F5"/>
                    </a:solidFill>
                  </a:tcPr>
                </a:tc>
              </a:tr>
              <a:tr h="313508">
                <a:tc>
                  <a:txBody>
                    <a:bodyPr/>
                    <a:lstStyle/>
                    <a:p>
                      <a:pPr>
                        <a:defRPr sz="1100">
                          <a:solidFill>
                            <a:srgbClr val="333333"/>
                          </a:solidFill>
                          <a:latin typeface="Calibri"/>
                        </a:defRPr>
                      </a:pPr>
                      <a:r>
                        <a:t>ESU2-50</a:t>
                      </a:r>
                    </a:p>
                  </a:txBody>
                  <a:tcPr anchor="ctr"/>
                </a:tc>
                <a:tc>
                  <a:txBody>
                    <a:bodyPr/>
                    <a:lstStyle/>
                    <a:p>
                      <a:pPr>
                        <a:defRPr sz="1100">
                          <a:solidFill>
                            <a:srgbClr val="333333"/>
                          </a:solidFill>
                          <a:latin typeface="Calibri"/>
                        </a:defRPr>
                      </a:pPr>
                      <a:r>
                        <a:t>0.303</a:t>
                      </a:r>
                    </a:p>
                  </a:txBody>
                  <a:tcPr anchor="ctr"/>
                </a:tc>
                <a:tc>
                  <a:txBody>
                    <a:bodyPr/>
                    <a:lstStyle/>
                    <a:p>
                      <a:pPr>
                        <a:defRPr sz="1100">
                          <a:solidFill>
                            <a:srgbClr val="333333"/>
                          </a:solidFill>
                          <a:latin typeface="Calibri"/>
                        </a:defRPr>
                      </a:pPr>
                      <a:r>
                        <a:t>0.293</a:t>
                      </a:r>
                    </a:p>
                  </a:txBody>
                  <a:tcPr anchor="ctr"/>
                </a:tc>
                <a:tc>
                  <a:txBody>
                    <a:bodyPr/>
                    <a:lstStyle/>
                    <a:p>
                      <a:pPr>
                        <a:defRPr sz="1100">
                          <a:solidFill>
                            <a:srgbClr val="333333"/>
                          </a:solidFill>
                          <a:latin typeface="Calibri"/>
                        </a:defRPr>
                      </a:pPr>
                      <a:r>
                        <a:t>1.03x</a:t>
                      </a:r>
                    </a:p>
                  </a:txBody>
                  <a:tcPr anchor="ctr"/>
                </a:tc>
              </a:tr>
              <a:tr h="313508">
                <a:tc>
                  <a:txBody>
                    <a:bodyPr/>
                    <a:lstStyle/>
                    <a:p>
                      <a:pPr>
                        <a:defRPr sz="1100">
                          <a:solidFill>
                            <a:srgbClr val="333333"/>
                          </a:solidFill>
                          <a:latin typeface="Calibri"/>
                        </a:defRPr>
                      </a:pPr>
                      <a:r>
                        <a:t>ESU2-100</a:t>
                      </a:r>
                    </a:p>
                  </a:txBody>
                  <a:tcPr anchor="ctr">
                    <a:solidFill>
                      <a:srgbClr val="F5F5F5"/>
                    </a:solidFill>
                  </a:tcPr>
                </a:tc>
                <a:tc>
                  <a:txBody>
                    <a:bodyPr/>
                    <a:lstStyle/>
                    <a:p>
                      <a:pPr>
                        <a:defRPr sz="1100">
                          <a:solidFill>
                            <a:srgbClr val="333333"/>
                          </a:solidFill>
                          <a:latin typeface="Calibri"/>
                        </a:defRPr>
                      </a:pPr>
                      <a:r>
                        <a:t>0.489</a:t>
                      </a:r>
                    </a:p>
                  </a:txBody>
                  <a:tcPr anchor="ctr">
                    <a:solidFill>
                      <a:srgbClr val="F5F5F5"/>
                    </a:solidFill>
                  </a:tcPr>
                </a:tc>
                <a:tc>
                  <a:txBody>
                    <a:bodyPr/>
                    <a:lstStyle/>
                    <a:p>
                      <a:pPr>
                        <a:defRPr sz="1100">
                          <a:solidFill>
                            <a:srgbClr val="333333"/>
                          </a:solidFill>
                          <a:latin typeface="Calibri"/>
                        </a:defRPr>
                      </a:pPr>
                      <a:r>
                        <a:t>0.350</a:t>
                      </a:r>
                    </a:p>
                  </a:txBody>
                  <a:tcPr anchor="ctr">
                    <a:solidFill>
                      <a:srgbClr val="F5F5F5"/>
                    </a:solidFill>
                  </a:tcPr>
                </a:tc>
                <a:tc>
                  <a:txBody>
                    <a:bodyPr/>
                    <a:lstStyle/>
                    <a:p>
                      <a:pPr>
                        <a:defRPr sz="1100" b="1">
                          <a:solidFill>
                            <a:srgbClr val="1A803E"/>
                          </a:solidFill>
                          <a:latin typeface="Calibri"/>
                        </a:defRPr>
                      </a:pPr>
                      <a:r>
                        <a:t>1.40x</a:t>
                      </a:r>
                    </a:p>
                  </a:txBody>
                  <a:tcPr anchor="ctr">
                    <a:solidFill>
                      <a:srgbClr val="F5F5F5"/>
                    </a:solidFill>
                  </a:tcPr>
                </a:tc>
              </a:tr>
              <a:tr h="313508">
                <a:tc>
                  <a:txBody>
                    <a:bodyPr/>
                    <a:lstStyle/>
                    <a:p>
                      <a:pPr>
                        <a:defRPr sz="1100">
                          <a:solidFill>
                            <a:srgbClr val="333333"/>
                          </a:solidFill>
                          <a:latin typeface="Calibri"/>
                        </a:defRPr>
                      </a:pPr>
                      <a:r>
                        <a:t>QV-50</a:t>
                      </a:r>
                    </a:p>
                  </a:txBody>
                  <a:tcPr anchor="ctr"/>
                </a:tc>
                <a:tc>
                  <a:txBody>
                    <a:bodyPr/>
                    <a:lstStyle/>
                    <a:p>
                      <a:pPr>
                        <a:defRPr sz="1100">
                          <a:solidFill>
                            <a:srgbClr val="333333"/>
                          </a:solidFill>
                          <a:latin typeface="Calibri"/>
                        </a:defRPr>
                      </a:pPr>
                      <a:r>
                        <a:t>1.167</a:t>
                      </a:r>
                    </a:p>
                  </a:txBody>
                  <a:tcPr anchor="ctr"/>
                </a:tc>
                <a:tc>
                  <a:txBody>
                    <a:bodyPr/>
                    <a:lstStyle/>
                    <a:p>
                      <a:pPr>
                        <a:defRPr sz="1100">
                          <a:solidFill>
                            <a:srgbClr val="333333"/>
                          </a:solidFill>
                          <a:latin typeface="Calibri"/>
                        </a:defRPr>
                      </a:pPr>
                      <a:r>
                        <a:t>1.013</a:t>
                      </a:r>
                    </a:p>
                  </a:txBody>
                  <a:tcPr anchor="ctr"/>
                </a:tc>
                <a:tc>
                  <a:txBody>
                    <a:bodyPr/>
                    <a:lstStyle/>
                    <a:p>
                      <a:pPr>
                        <a:defRPr sz="1100" b="1">
                          <a:solidFill>
                            <a:srgbClr val="1A803E"/>
                          </a:solidFill>
                          <a:latin typeface="Calibri"/>
                        </a:defRPr>
                      </a:pPr>
                      <a:r>
                        <a:t>1.15x</a:t>
                      </a:r>
                    </a:p>
                  </a:txBody>
                  <a:tcPr anchor="ctr"/>
                </a:tc>
              </a:tr>
              <a:tr h="313512">
                <a:tc>
                  <a:txBody>
                    <a:bodyPr/>
                    <a:lstStyle/>
                    <a:p>
                      <a:pPr>
                        <a:defRPr sz="1100">
                          <a:solidFill>
                            <a:srgbClr val="333333"/>
                          </a:solidFill>
                          <a:latin typeface="Calibri"/>
                        </a:defRPr>
                      </a:pPr>
                      <a:r>
                        <a:t>QV-100</a:t>
                      </a:r>
                    </a:p>
                  </a:txBody>
                  <a:tcPr anchor="ctr">
                    <a:solidFill>
                      <a:srgbClr val="F5F5F5"/>
                    </a:solidFill>
                  </a:tcPr>
                </a:tc>
                <a:tc>
                  <a:txBody>
                    <a:bodyPr/>
                    <a:lstStyle/>
                    <a:p>
                      <a:pPr>
                        <a:defRPr sz="1100">
                          <a:solidFill>
                            <a:srgbClr val="333333"/>
                          </a:solidFill>
                          <a:latin typeface="Calibri"/>
                        </a:defRPr>
                      </a:pPr>
                      <a:r>
                        <a:t>3.385</a:t>
                      </a:r>
                    </a:p>
                  </a:txBody>
                  <a:tcPr anchor="ctr">
                    <a:solidFill>
                      <a:srgbClr val="F5F5F5"/>
                    </a:solidFill>
                  </a:tcPr>
                </a:tc>
                <a:tc>
                  <a:txBody>
                    <a:bodyPr/>
                    <a:lstStyle/>
                    <a:p>
                      <a:pPr>
                        <a:defRPr sz="1100">
                          <a:solidFill>
                            <a:srgbClr val="333333"/>
                          </a:solidFill>
                          <a:latin typeface="Calibri"/>
                        </a:defRPr>
                      </a:pPr>
                      <a:r>
                        <a:t>3.128</a:t>
                      </a:r>
                    </a:p>
                  </a:txBody>
                  <a:tcPr anchor="ctr">
                    <a:solidFill>
                      <a:srgbClr val="F5F5F5"/>
                    </a:solidFill>
                  </a:tcPr>
                </a:tc>
                <a:tc>
                  <a:txBody>
                    <a:bodyPr/>
                    <a:lstStyle/>
                    <a:p>
                      <a:pPr>
                        <a:defRPr sz="1100">
                          <a:solidFill>
                            <a:srgbClr val="333333"/>
                          </a:solidFill>
                          <a:latin typeface="Calibri"/>
                        </a:defRPr>
                      </a:pPr>
                      <a:r>
                        <a:t>1.08x</a:t>
                      </a:r>
                    </a:p>
                  </a:txBody>
                  <a:tcPr anchor="ctr">
                    <a:solidFill>
                      <a:srgbClr val="F5F5F5"/>
                    </a:solidFill>
                  </a:tcPr>
                </a:tc>
              </a:tr>
            </a:tbl>
          </a:graphicData>
        </a:graphic>
      </p:graphicFrame>
      <p:sp>
        <p:nvSpPr>
          <p:cNvPr id="6" name="TextBox 5"/>
          <p:cNvSpPr txBox="1"/>
          <p:nvPr/>
        </p:nvSpPr>
        <p:spPr>
          <a:xfrm>
            <a:off x="4754880" y="1188720"/>
            <a:ext cx="4114800" cy="274320"/>
          </a:xfrm>
          <a:prstGeom prst="rect">
            <a:avLst/>
          </a:prstGeom>
          <a:noFill/>
        </p:spPr>
        <p:txBody>
          <a:bodyPr wrap="square">
            <a:spAutoFit/>
          </a:bodyPr>
          <a:lstStyle/>
          <a:p>
            <a:pPr algn="l">
              <a:defRPr sz="1200" b="1">
                <a:solidFill>
                  <a:srgbClr val="333333"/>
                </a:solidFill>
                <a:latin typeface="Calibri"/>
              </a:defRPr>
            </a:pPr>
            <a:r>
              <a:t>Remote Server -- Rayon OFF (serial mode)</a:t>
            </a:r>
          </a:p>
        </p:txBody>
      </p:sp>
      <p:graphicFrame>
        <p:nvGraphicFramePr>
          <p:cNvPr id="7" name="Table 6"/>
          <p:cNvGraphicFramePr>
            <a:graphicFrameLocks noGrp="1"/>
          </p:cNvGraphicFramePr>
          <p:nvPr/>
        </p:nvGraphicFramePr>
        <p:xfrm>
          <a:off x="4754880" y="1508760"/>
          <a:ext cx="3840480" cy="2194560"/>
        </p:xfrm>
        <a:graphic>
          <a:graphicData uri="http://schemas.openxmlformats.org/drawingml/2006/table">
            <a:tbl>
              <a:tblPr firstRow="1" bandRow="1">
                <a:tableStyleId>{5C22544A-7EE6-4342-B048-85BDC9FD1C3A}</a:tableStyleId>
              </a:tblPr>
              <a:tblGrid>
                <a:gridCol w="1097280"/>
                <a:gridCol w="914400"/>
                <a:gridCol w="914400"/>
                <a:gridCol w="914400"/>
              </a:tblGrid>
              <a:tr h="313508">
                <a:tc>
                  <a:txBody>
                    <a:bodyPr/>
                    <a:lstStyle/>
                    <a:p>
                      <a:pPr>
                        <a:defRPr sz="1100" b="1">
                          <a:solidFill>
                            <a:srgbClr val="FFFFFF"/>
                          </a:solidFill>
                          <a:latin typeface="Calibri"/>
                        </a:defRPr>
                      </a:pPr>
                      <a:r>
                        <a:t>Circuit</a:t>
                      </a:r>
                    </a:p>
                  </a:txBody>
                  <a:tcPr anchor="ctr">
                    <a:solidFill>
                      <a:srgbClr val="0530AD"/>
                    </a:solidFill>
                  </a:tcPr>
                </a:tc>
                <a:tc>
                  <a:txBody>
                    <a:bodyPr/>
                    <a:lstStyle/>
                    <a:p>
                      <a:pPr>
                        <a:defRPr sz="1100" b="1">
                          <a:solidFill>
                            <a:srgbClr val="FFFFFF"/>
                          </a:solidFill>
                          <a:latin typeface="Calibri"/>
                        </a:defRPr>
                      </a:pPr>
                      <a:r>
                        <a:t>Main (s)</a:t>
                      </a:r>
                    </a:p>
                  </a:txBody>
                  <a:tcPr anchor="ctr">
                    <a:solidFill>
                      <a:srgbClr val="0530AD"/>
                    </a:solidFill>
                  </a:tcPr>
                </a:tc>
                <a:tc>
                  <a:txBody>
                    <a:bodyPr/>
                    <a:lstStyle/>
                    <a:p>
                      <a:pPr>
                        <a:defRPr sz="1100" b="1">
                          <a:solidFill>
                            <a:srgbClr val="FFFFFF"/>
                          </a:solidFill>
                          <a:latin typeface="Calibri"/>
                        </a:defRPr>
                      </a:pPr>
                      <a:r>
                        <a:t>Ours (s)</a:t>
                      </a:r>
                    </a:p>
                  </a:txBody>
                  <a:tcPr anchor="ctr">
                    <a:solidFill>
                      <a:srgbClr val="0530AD"/>
                    </a:solidFill>
                  </a:tcPr>
                </a:tc>
                <a:tc>
                  <a:txBody>
                    <a:bodyPr/>
                    <a:lstStyle/>
                    <a:p>
                      <a:pPr>
                        <a:defRPr sz="1100" b="1">
                          <a:solidFill>
                            <a:srgbClr val="FFFFFF"/>
                          </a:solidFill>
                          <a:latin typeface="Calibri"/>
                        </a:defRPr>
                      </a:pPr>
                      <a:r>
                        <a:t>Speedup</a:t>
                      </a:r>
                    </a:p>
                  </a:txBody>
                  <a:tcPr anchor="ctr">
                    <a:solidFill>
                      <a:srgbClr val="0530AD"/>
                    </a:solidFill>
                  </a:tcPr>
                </a:tc>
              </a:tr>
              <a:tr h="313508">
                <a:tc>
                  <a:txBody>
                    <a:bodyPr/>
                    <a:lstStyle/>
                    <a:p>
                      <a:pPr>
                        <a:defRPr sz="1100">
                          <a:solidFill>
                            <a:srgbClr val="333333"/>
                          </a:solidFill>
                          <a:latin typeface="Calibri"/>
                        </a:defRPr>
                      </a:pPr>
                      <a:r>
                        <a:t>QFT-50</a:t>
                      </a:r>
                    </a:p>
                  </a:txBody>
                  <a:tcPr anchor="ctr"/>
                </a:tc>
                <a:tc>
                  <a:txBody>
                    <a:bodyPr/>
                    <a:lstStyle/>
                    <a:p>
                      <a:pPr>
                        <a:defRPr sz="1100">
                          <a:solidFill>
                            <a:srgbClr val="333333"/>
                          </a:solidFill>
                          <a:latin typeface="Calibri"/>
                        </a:defRPr>
                      </a:pPr>
                      <a:r>
                        <a:t>2.700</a:t>
                      </a:r>
                    </a:p>
                  </a:txBody>
                  <a:tcPr anchor="ctr"/>
                </a:tc>
                <a:tc>
                  <a:txBody>
                    <a:bodyPr/>
                    <a:lstStyle/>
                    <a:p>
                      <a:pPr>
                        <a:defRPr sz="1100">
                          <a:solidFill>
                            <a:srgbClr val="333333"/>
                          </a:solidFill>
                          <a:latin typeface="Calibri"/>
                        </a:defRPr>
                      </a:pPr>
                      <a:r>
                        <a:t>2.175</a:t>
                      </a:r>
                    </a:p>
                  </a:txBody>
                  <a:tcPr anchor="ctr"/>
                </a:tc>
                <a:tc>
                  <a:txBody>
                    <a:bodyPr/>
                    <a:lstStyle/>
                    <a:p>
                      <a:pPr>
                        <a:defRPr sz="1100">
                          <a:solidFill>
                            <a:srgbClr val="333333"/>
                          </a:solidFill>
                          <a:latin typeface="Calibri"/>
                        </a:defRPr>
                      </a:pPr>
                      <a:r>
                        <a:t>1.24x</a:t>
                      </a:r>
                    </a:p>
                  </a:txBody>
                  <a:tcPr anchor="ctr"/>
                </a:tc>
              </a:tr>
              <a:tr h="313508">
                <a:tc>
                  <a:txBody>
                    <a:bodyPr/>
                    <a:lstStyle/>
                    <a:p>
                      <a:pPr>
                        <a:defRPr sz="1100">
                          <a:solidFill>
                            <a:srgbClr val="333333"/>
                          </a:solidFill>
                          <a:latin typeface="Calibri"/>
                        </a:defRPr>
                      </a:pPr>
                      <a:r>
                        <a:t>QFT-100</a:t>
                      </a:r>
                    </a:p>
                  </a:txBody>
                  <a:tcPr anchor="ctr">
                    <a:solidFill>
                      <a:srgbClr val="F5F5F5"/>
                    </a:solidFill>
                  </a:tcPr>
                </a:tc>
                <a:tc>
                  <a:txBody>
                    <a:bodyPr/>
                    <a:lstStyle/>
                    <a:p>
                      <a:pPr>
                        <a:defRPr sz="1100">
                          <a:solidFill>
                            <a:srgbClr val="333333"/>
                          </a:solidFill>
                          <a:latin typeface="Calibri"/>
                        </a:defRPr>
                      </a:pPr>
                      <a:r>
                        <a:t>6.374</a:t>
                      </a:r>
                    </a:p>
                  </a:txBody>
                  <a:tcPr anchor="ctr">
                    <a:solidFill>
                      <a:srgbClr val="F5F5F5"/>
                    </a:solidFill>
                  </a:tcPr>
                </a:tc>
                <a:tc>
                  <a:txBody>
                    <a:bodyPr/>
                    <a:lstStyle/>
                    <a:p>
                      <a:pPr>
                        <a:defRPr sz="1100">
                          <a:solidFill>
                            <a:srgbClr val="333333"/>
                          </a:solidFill>
                          <a:latin typeface="Calibri"/>
                        </a:defRPr>
                      </a:pPr>
                      <a:r>
                        <a:t>4.491</a:t>
                      </a:r>
                    </a:p>
                  </a:txBody>
                  <a:tcPr anchor="ctr">
                    <a:solidFill>
                      <a:srgbClr val="F5F5F5"/>
                    </a:solidFill>
                  </a:tcPr>
                </a:tc>
                <a:tc>
                  <a:txBody>
                    <a:bodyPr/>
                    <a:lstStyle/>
                    <a:p>
                      <a:pPr>
                        <a:defRPr sz="1100" b="1">
                          <a:solidFill>
                            <a:srgbClr val="1A803E"/>
                          </a:solidFill>
                          <a:latin typeface="Calibri"/>
                        </a:defRPr>
                      </a:pPr>
                      <a:r>
                        <a:t>1.42x</a:t>
                      </a:r>
                    </a:p>
                  </a:txBody>
                  <a:tcPr anchor="ctr">
                    <a:solidFill>
                      <a:srgbClr val="F5F5F5"/>
                    </a:solidFill>
                  </a:tcPr>
                </a:tc>
              </a:tr>
              <a:tr h="313508">
                <a:tc>
                  <a:txBody>
                    <a:bodyPr/>
                    <a:lstStyle/>
                    <a:p>
                      <a:pPr>
                        <a:defRPr sz="1100">
                          <a:solidFill>
                            <a:srgbClr val="333333"/>
                          </a:solidFill>
                          <a:latin typeface="Calibri"/>
                        </a:defRPr>
                      </a:pPr>
                      <a:r>
                        <a:t>ESU2-50</a:t>
                      </a:r>
                    </a:p>
                  </a:txBody>
                  <a:tcPr anchor="ctr"/>
                </a:tc>
                <a:tc>
                  <a:txBody>
                    <a:bodyPr/>
                    <a:lstStyle/>
                    <a:p>
                      <a:pPr>
                        <a:defRPr sz="1100">
                          <a:solidFill>
                            <a:srgbClr val="333333"/>
                          </a:solidFill>
                          <a:latin typeface="Calibri"/>
                        </a:defRPr>
                      </a:pPr>
                      <a:r>
                        <a:t>0.299</a:t>
                      </a:r>
                    </a:p>
                  </a:txBody>
                  <a:tcPr anchor="ctr"/>
                </a:tc>
                <a:tc>
                  <a:txBody>
                    <a:bodyPr/>
                    <a:lstStyle/>
                    <a:p>
                      <a:pPr>
                        <a:defRPr sz="1100">
                          <a:solidFill>
                            <a:srgbClr val="333333"/>
                          </a:solidFill>
                          <a:latin typeface="Calibri"/>
                        </a:defRPr>
                      </a:pPr>
                      <a:r>
                        <a:t>0.293</a:t>
                      </a:r>
                    </a:p>
                  </a:txBody>
                  <a:tcPr anchor="ctr"/>
                </a:tc>
                <a:tc>
                  <a:txBody>
                    <a:bodyPr/>
                    <a:lstStyle/>
                    <a:p>
                      <a:pPr>
                        <a:defRPr sz="1100">
                          <a:solidFill>
                            <a:srgbClr val="333333"/>
                          </a:solidFill>
                          <a:latin typeface="Calibri"/>
                        </a:defRPr>
                      </a:pPr>
                      <a:r>
                        <a:t>1.02x</a:t>
                      </a:r>
                    </a:p>
                  </a:txBody>
                  <a:tcPr anchor="ctr"/>
                </a:tc>
              </a:tr>
              <a:tr h="313508">
                <a:tc>
                  <a:txBody>
                    <a:bodyPr/>
                    <a:lstStyle/>
                    <a:p>
                      <a:pPr>
                        <a:defRPr sz="1100">
                          <a:solidFill>
                            <a:srgbClr val="333333"/>
                          </a:solidFill>
                          <a:latin typeface="Calibri"/>
                        </a:defRPr>
                      </a:pPr>
                      <a:r>
                        <a:t>ESU2-100</a:t>
                      </a:r>
                    </a:p>
                  </a:txBody>
                  <a:tcPr anchor="ctr">
                    <a:solidFill>
                      <a:srgbClr val="F5F5F5"/>
                    </a:solidFill>
                  </a:tcPr>
                </a:tc>
                <a:tc>
                  <a:txBody>
                    <a:bodyPr/>
                    <a:lstStyle/>
                    <a:p>
                      <a:pPr>
                        <a:defRPr sz="1100">
                          <a:solidFill>
                            <a:srgbClr val="333333"/>
                          </a:solidFill>
                          <a:latin typeface="Calibri"/>
                        </a:defRPr>
                      </a:pPr>
                      <a:r>
                        <a:t>0.494</a:t>
                      </a:r>
                    </a:p>
                  </a:txBody>
                  <a:tcPr anchor="ctr">
                    <a:solidFill>
                      <a:srgbClr val="F5F5F5"/>
                    </a:solidFill>
                  </a:tcPr>
                </a:tc>
                <a:tc>
                  <a:txBody>
                    <a:bodyPr/>
                    <a:lstStyle/>
                    <a:p>
                      <a:pPr>
                        <a:defRPr sz="1100">
                          <a:solidFill>
                            <a:srgbClr val="333333"/>
                          </a:solidFill>
                          <a:latin typeface="Calibri"/>
                        </a:defRPr>
                      </a:pPr>
                      <a:r>
                        <a:t>0.350</a:t>
                      </a:r>
                    </a:p>
                  </a:txBody>
                  <a:tcPr anchor="ctr">
                    <a:solidFill>
                      <a:srgbClr val="F5F5F5"/>
                    </a:solidFill>
                  </a:tcPr>
                </a:tc>
                <a:tc>
                  <a:txBody>
                    <a:bodyPr/>
                    <a:lstStyle/>
                    <a:p>
                      <a:pPr>
                        <a:defRPr sz="1100" b="1">
                          <a:solidFill>
                            <a:srgbClr val="1A803E"/>
                          </a:solidFill>
                          <a:latin typeface="Calibri"/>
                        </a:defRPr>
                      </a:pPr>
                      <a:r>
                        <a:t>1.41x</a:t>
                      </a:r>
                    </a:p>
                  </a:txBody>
                  <a:tcPr anchor="ctr">
                    <a:solidFill>
                      <a:srgbClr val="F5F5F5"/>
                    </a:solidFill>
                  </a:tcPr>
                </a:tc>
              </a:tr>
              <a:tr h="313508">
                <a:tc>
                  <a:txBody>
                    <a:bodyPr/>
                    <a:lstStyle/>
                    <a:p>
                      <a:pPr>
                        <a:defRPr sz="1100">
                          <a:solidFill>
                            <a:srgbClr val="333333"/>
                          </a:solidFill>
                          <a:latin typeface="Calibri"/>
                        </a:defRPr>
                      </a:pPr>
                      <a:r>
                        <a:t>QV-50</a:t>
                      </a:r>
                    </a:p>
                  </a:txBody>
                  <a:tcPr anchor="ctr"/>
                </a:tc>
                <a:tc>
                  <a:txBody>
                    <a:bodyPr/>
                    <a:lstStyle/>
                    <a:p>
                      <a:pPr>
                        <a:defRPr sz="1100">
                          <a:solidFill>
                            <a:srgbClr val="333333"/>
                          </a:solidFill>
                          <a:latin typeface="Calibri"/>
                        </a:defRPr>
                      </a:pPr>
                      <a:r>
                        <a:t>1.273</a:t>
                      </a:r>
                    </a:p>
                  </a:txBody>
                  <a:tcPr anchor="ctr"/>
                </a:tc>
                <a:tc>
                  <a:txBody>
                    <a:bodyPr/>
                    <a:lstStyle/>
                    <a:p>
                      <a:pPr>
                        <a:defRPr sz="1100">
                          <a:solidFill>
                            <a:srgbClr val="333333"/>
                          </a:solidFill>
                          <a:latin typeface="Calibri"/>
                        </a:defRPr>
                      </a:pPr>
                      <a:r>
                        <a:t>1.134</a:t>
                      </a:r>
                    </a:p>
                  </a:txBody>
                  <a:tcPr anchor="ctr"/>
                </a:tc>
                <a:tc>
                  <a:txBody>
                    <a:bodyPr/>
                    <a:lstStyle/>
                    <a:p>
                      <a:pPr>
                        <a:defRPr sz="1100" b="1">
                          <a:solidFill>
                            <a:srgbClr val="1A803E"/>
                          </a:solidFill>
                          <a:latin typeface="Calibri"/>
                        </a:defRPr>
                      </a:pPr>
                      <a:r>
                        <a:t>1.12x</a:t>
                      </a:r>
                    </a:p>
                  </a:txBody>
                  <a:tcPr anchor="ctr"/>
                </a:tc>
              </a:tr>
              <a:tr h="313512">
                <a:tc>
                  <a:txBody>
                    <a:bodyPr/>
                    <a:lstStyle/>
                    <a:p>
                      <a:pPr>
                        <a:defRPr sz="1100">
                          <a:solidFill>
                            <a:srgbClr val="333333"/>
                          </a:solidFill>
                          <a:latin typeface="Calibri"/>
                        </a:defRPr>
                      </a:pPr>
                      <a:r>
                        <a:t>QV-100</a:t>
                      </a:r>
                    </a:p>
                  </a:txBody>
                  <a:tcPr anchor="ctr">
                    <a:solidFill>
                      <a:srgbClr val="F5F5F5"/>
                    </a:solidFill>
                  </a:tcPr>
                </a:tc>
                <a:tc>
                  <a:txBody>
                    <a:bodyPr/>
                    <a:lstStyle/>
                    <a:p>
                      <a:pPr>
                        <a:defRPr sz="1100">
                          <a:solidFill>
                            <a:srgbClr val="333333"/>
                          </a:solidFill>
                          <a:latin typeface="Calibri"/>
                        </a:defRPr>
                      </a:pPr>
                      <a:r>
                        <a:t>3.429</a:t>
                      </a:r>
                    </a:p>
                  </a:txBody>
                  <a:tcPr anchor="ctr">
                    <a:solidFill>
                      <a:srgbClr val="F5F5F5"/>
                    </a:solidFill>
                  </a:tcPr>
                </a:tc>
                <a:tc>
                  <a:txBody>
                    <a:bodyPr/>
                    <a:lstStyle/>
                    <a:p>
                      <a:pPr>
                        <a:defRPr sz="1100">
                          <a:solidFill>
                            <a:srgbClr val="333333"/>
                          </a:solidFill>
                          <a:latin typeface="Calibri"/>
                        </a:defRPr>
                      </a:pPr>
                      <a:r>
                        <a:t>3.082</a:t>
                      </a:r>
                    </a:p>
                  </a:txBody>
                  <a:tcPr anchor="ctr">
                    <a:solidFill>
                      <a:srgbClr val="F5F5F5"/>
                    </a:solidFill>
                  </a:tcPr>
                </a:tc>
                <a:tc>
                  <a:txBody>
                    <a:bodyPr/>
                    <a:lstStyle/>
                    <a:p>
                      <a:pPr>
                        <a:defRPr sz="1100">
                          <a:solidFill>
                            <a:srgbClr val="333333"/>
                          </a:solidFill>
                          <a:latin typeface="Calibri"/>
                        </a:defRPr>
                      </a:pPr>
                      <a:r>
                        <a:t>1.11x</a:t>
                      </a:r>
                    </a:p>
                  </a:txBody>
                  <a:tcPr anchor="ctr">
                    <a:solidFill>
                      <a:srgbClr val="F5F5F5"/>
                    </a:solidFill>
                  </a:tcPr>
                </a:tc>
              </a:tr>
            </a:tbl>
          </a:graphicData>
        </a:graphic>
      </p:graphicFrame>
      <p:sp>
        <p:nvSpPr>
          <p:cNvPr id="8" name="TextBox 7"/>
          <p:cNvSpPr txBox="1"/>
          <p:nvPr/>
        </p:nvSpPr>
        <p:spPr>
          <a:xfrm>
            <a:off x="274320" y="3931920"/>
            <a:ext cx="8595360" cy="274320"/>
          </a:xfrm>
          <a:prstGeom prst="rect">
            <a:avLst/>
          </a:prstGeom>
          <a:noFill/>
        </p:spPr>
        <p:txBody>
          <a:bodyPr wrap="square">
            <a:spAutoFit/>
          </a:bodyPr>
          <a:lstStyle/>
          <a:p>
            <a:pPr algn="l">
              <a:defRPr sz="1200" b="1">
                <a:solidFill>
                  <a:srgbClr val="333333"/>
                </a:solidFill>
                <a:latin typeface="Calibri"/>
              </a:defRPr>
            </a:pPr>
            <a:r>
              <a:t>Rayon ON vs OFF (our branch) -- no measurable difference:</a:t>
            </a:r>
          </a:p>
        </p:txBody>
      </p:sp>
      <p:graphicFrame>
        <p:nvGraphicFramePr>
          <p:cNvPr id="9" name="Table 8"/>
          <p:cNvGraphicFramePr>
            <a:graphicFrameLocks noGrp="1"/>
          </p:cNvGraphicFramePr>
          <p:nvPr/>
        </p:nvGraphicFramePr>
        <p:xfrm>
          <a:off x="274320" y="4251960"/>
          <a:ext cx="5943600" cy="109728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74320">
                <a:tc>
                  <a:txBody>
                    <a:bodyPr/>
                    <a:lstStyle/>
                    <a:p>
                      <a:pPr>
                        <a:defRPr sz="1100" b="1">
                          <a:solidFill>
                            <a:srgbClr val="FFFFFF"/>
                          </a:solidFill>
                          <a:latin typeface="Calibri"/>
                        </a:defRPr>
                      </a:pPr>
                      <a:r>
                        <a:t>Circuit</a:t>
                      </a:r>
                    </a:p>
                  </a:txBody>
                  <a:tcPr anchor="ctr">
                    <a:solidFill>
                      <a:srgbClr val="0530AD"/>
                    </a:solidFill>
                  </a:tcPr>
                </a:tc>
                <a:tc>
                  <a:txBody>
                    <a:bodyPr/>
                    <a:lstStyle/>
                    <a:p>
                      <a:pPr>
                        <a:defRPr sz="1100" b="1">
                          <a:solidFill>
                            <a:srgbClr val="FFFFFF"/>
                          </a:solidFill>
                          <a:latin typeface="Calibri"/>
                        </a:defRPr>
                      </a:pPr>
                      <a:r>
                        <a:t>Remote ON</a:t>
                      </a:r>
                    </a:p>
                  </a:txBody>
                  <a:tcPr anchor="ctr">
                    <a:solidFill>
                      <a:srgbClr val="0530AD"/>
                    </a:solidFill>
                  </a:tcPr>
                </a:tc>
                <a:tc>
                  <a:txBody>
                    <a:bodyPr/>
                    <a:lstStyle/>
                    <a:p>
                      <a:pPr>
                        <a:defRPr sz="1100" b="1">
                          <a:solidFill>
                            <a:srgbClr val="FFFFFF"/>
                          </a:solidFill>
                          <a:latin typeface="Calibri"/>
                        </a:defRPr>
                      </a:pPr>
                      <a:r>
                        <a:t>Remote OFF</a:t>
                      </a:r>
                    </a:p>
                  </a:txBody>
                  <a:tcPr anchor="ctr">
                    <a:solidFill>
                      <a:srgbClr val="0530AD"/>
                    </a:solidFill>
                  </a:tcPr>
                </a:tc>
                <a:tc>
                  <a:txBody>
                    <a:bodyPr/>
                    <a:lstStyle/>
                    <a:p>
                      <a:pPr>
                        <a:defRPr sz="1100" b="1">
                          <a:solidFill>
                            <a:srgbClr val="FFFFFF"/>
                          </a:solidFill>
                          <a:latin typeface="Calibri"/>
                        </a:defRPr>
                      </a:pPr>
                      <a:r>
                        <a:t>Local ON</a:t>
                      </a:r>
                    </a:p>
                  </a:txBody>
                  <a:tcPr anchor="ctr">
                    <a:solidFill>
                      <a:srgbClr val="0530AD"/>
                    </a:solidFill>
                  </a:tcPr>
                </a:tc>
                <a:tc>
                  <a:txBody>
                    <a:bodyPr/>
                    <a:lstStyle/>
                    <a:p>
                      <a:pPr>
                        <a:defRPr sz="1100" b="1">
                          <a:solidFill>
                            <a:srgbClr val="FFFFFF"/>
                          </a:solidFill>
                          <a:latin typeface="Calibri"/>
                        </a:defRPr>
                      </a:pPr>
                      <a:r>
                        <a:t>Local OFF</a:t>
                      </a:r>
                    </a:p>
                  </a:txBody>
                  <a:tcPr anchor="ctr">
                    <a:solidFill>
                      <a:srgbClr val="0530AD"/>
                    </a:solidFill>
                  </a:tcPr>
                </a:tc>
              </a:tr>
              <a:tr h="274320">
                <a:tc>
                  <a:txBody>
                    <a:bodyPr/>
                    <a:lstStyle/>
                    <a:p>
                      <a:pPr>
                        <a:defRPr sz="1100">
                          <a:solidFill>
                            <a:srgbClr val="333333"/>
                          </a:solidFill>
                          <a:latin typeface="Calibri"/>
                        </a:defRPr>
                      </a:pPr>
                      <a:r>
                        <a:t>QFT-100</a:t>
                      </a:r>
                    </a:p>
                  </a:txBody>
                  <a:tcPr anchor="ctr"/>
                </a:tc>
                <a:tc>
                  <a:txBody>
                    <a:bodyPr/>
                    <a:lstStyle/>
                    <a:p>
                      <a:pPr>
                        <a:defRPr sz="1100">
                          <a:solidFill>
                            <a:srgbClr val="333333"/>
                          </a:solidFill>
                          <a:latin typeface="Calibri"/>
                        </a:defRPr>
                      </a:pPr>
                      <a:r>
                        <a:t>4.605</a:t>
                      </a:r>
                    </a:p>
                  </a:txBody>
                  <a:tcPr anchor="ctr"/>
                </a:tc>
                <a:tc>
                  <a:txBody>
                    <a:bodyPr/>
                    <a:lstStyle/>
                    <a:p>
                      <a:pPr>
                        <a:defRPr sz="1100">
                          <a:solidFill>
                            <a:srgbClr val="333333"/>
                          </a:solidFill>
                          <a:latin typeface="Calibri"/>
                        </a:defRPr>
                      </a:pPr>
                      <a:r>
                        <a:t>4.491</a:t>
                      </a:r>
                    </a:p>
                  </a:txBody>
                  <a:tcPr anchor="ctr"/>
                </a:tc>
                <a:tc>
                  <a:txBody>
                    <a:bodyPr/>
                    <a:lstStyle/>
                    <a:p>
                      <a:pPr>
                        <a:defRPr sz="1100">
                          <a:solidFill>
                            <a:srgbClr val="333333"/>
                          </a:solidFill>
                          <a:latin typeface="Calibri"/>
                        </a:defRPr>
                      </a:pPr>
                      <a:r>
                        <a:t>7.231</a:t>
                      </a:r>
                    </a:p>
                  </a:txBody>
                  <a:tcPr anchor="ctr"/>
                </a:tc>
                <a:tc>
                  <a:txBody>
                    <a:bodyPr/>
                    <a:lstStyle/>
                    <a:p>
                      <a:pPr>
                        <a:defRPr sz="1100">
                          <a:solidFill>
                            <a:srgbClr val="333333"/>
                          </a:solidFill>
                          <a:latin typeface="Calibri"/>
                        </a:defRPr>
                      </a:pPr>
                      <a:r>
                        <a:t>5.592</a:t>
                      </a:r>
                    </a:p>
                  </a:txBody>
                  <a:tcPr anchor="ctr"/>
                </a:tc>
              </a:tr>
              <a:tr h="274320">
                <a:tc>
                  <a:txBody>
                    <a:bodyPr/>
                    <a:lstStyle/>
                    <a:p>
                      <a:pPr>
                        <a:defRPr sz="1100">
                          <a:solidFill>
                            <a:srgbClr val="333333"/>
                          </a:solidFill>
                          <a:latin typeface="Calibri"/>
                        </a:defRPr>
                      </a:pPr>
                      <a:r>
                        <a:t>ESU2-100</a:t>
                      </a:r>
                    </a:p>
                  </a:txBody>
                  <a:tcPr anchor="ctr">
                    <a:solidFill>
                      <a:srgbClr val="F5F5F5"/>
                    </a:solidFill>
                  </a:tcPr>
                </a:tc>
                <a:tc>
                  <a:txBody>
                    <a:bodyPr/>
                    <a:lstStyle/>
                    <a:p>
                      <a:pPr>
                        <a:defRPr sz="1100">
                          <a:solidFill>
                            <a:srgbClr val="333333"/>
                          </a:solidFill>
                          <a:latin typeface="Calibri"/>
                        </a:defRPr>
                      </a:pPr>
                      <a:r>
                        <a:t>0.350</a:t>
                      </a:r>
                    </a:p>
                  </a:txBody>
                  <a:tcPr anchor="ctr">
                    <a:solidFill>
                      <a:srgbClr val="F5F5F5"/>
                    </a:solidFill>
                  </a:tcPr>
                </a:tc>
                <a:tc>
                  <a:txBody>
                    <a:bodyPr/>
                    <a:lstStyle/>
                    <a:p>
                      <a:pPr>
                        <a:defRPr sz="1100">
                          <a:solidFill>
                            <a:srgbClr val="333333"/>
                          </a:solidFill>
                          <a:latin typeface="Calibri"/>
                        </a:defRPr>
                      </a:pPr>
                      <a:r>
                        <a:t>0.350</a:t>
                      </a:r>
                    </a:p>
                  </a:txBody>
                  <a:tcPr anchor="ctr">
                    <a:solidFill>
                      <a:srgbClr val="F5F5F5"/>
                    </a:solidFill>
                  </a:tcPr>
                </a:tc>
                <a:tc>
                  <a:txBody>
                    <a:bodyPr/>
                    <a:lstStyle/>
                    <a:p>
                      <a:pPr>
                        <a:defRPr sz="1100">
                          <a:solidFill>
                            <a:srgbClr val="333333"/>
                          </a:solidFill>
                          <a:latin typeface="Calibri"/>
                        </a:defRPr>
                      </a:pPr>
                      <a:r>
                        <a:t>0.502</a:t>
                      </a:r>
                    </a:p>
                  </a:txBody>
                  <a:tcPr anchor="ctr">
                    <a:solidFill>
                      <a:srgbClr val="F5F5F5"/>
                    </a:solidFill>
                  </a:tcPr>
                </a:tc>
                <a:tc>
                  <a:txBody>
                    <a:bodyPr/>
                    <a:lstStyle/>
                    <a:p>
                      <a:pPr>
                        <a:defRPr sz="1100">
                          <a:solidFill>
                            <a:srgbClr val="333333"/>
                          </a:solidFill>
                          <a:latin typeface="Calibri"/>
                        </a:defRPr>
                      </a:pPr>
                      <a:r>
                        <a:t>0.390</a:t>
                      </a:r>
                    </a:p>
                  </a:txBody>
                  <a:tcPr anchor="ctr">
                    <a:solidFill>
                      <a:srgbClr val="F5F5F5"/>
                    </a:solidFill>
                  </a:tcPr>
                </a:tc>
              </a:tr>
              <a:tr h="274320">
                <a:tc>
                  <a:txBody>
                    <a:bodyPr/>
                    <a:lstStyle/>
                    <a:p>
                      <a:pPr>
                        <a:defRPr sz="1100">
                          <a:solidFill>
                            <a:srgbClr val="333333"/>
                          </a:solidFill>
                          <a:latin typeface="Calibri"/>
                        </a:defRPr>
                      </a:pPr>
                      <a:r>
                        <a:t>QV-100</a:t>
                      </a:r>
                    </a:p>
                  </a:txBody>
                  <a:tcPr anchor="ctr"/>
                </a:tc>
                <a:tc>
                  <a:txBody>
                    <a:bodyPr/>
                    <a:lstStyle/>
                    <a:p>
                      <a:pPr>
                        <a:defRPr sz="1100">
                          <a:solidFill>
                            <a:srgbClr val="333333"/>
                          </a:solidFill>
                          <a:latin typeface="Calibri"/>
                        </a:defRPr>
                      </a:pPr>
                      <a:r>
                        <a:t>3.128</a:t>
                      </a:r>
                    </a:p>
                  </a:txBody>
                  <a:tcPr anchor="ctr"/>
                </a:tc>
                <a:tc>
                  <a:txBody>
                    <a:bodyPr/>
                    <a:lstStyle/>
                    <a:p>
                      <a:pPr>
                        <a:defRPr sz="1100">
                          <a:solidFill>
                            <a:srgbClr val="333333"/>
                          </a:solidFill>
                          <a:latin typeface="Calibri"/>
                        </a:defRPr>
                      </a:pPr>
                      <a:r>
                        <a:t>3.082</a:t>
                      </a:r>
                    </a:p>
                  </a:txBody>
                  <a:tcPr anchor="ctr"/>
                </a:tc>
                <a:tc>
                  <a:txBody>
                    <a:bodyPr/>
                    <a:lstStyle/>
                    <a:p>
                      <a:pPr>
                        <a:defRPr sz="1100">
                          <a:solidFill>
                            <a:srgbClr val="333333"/>
                          </a:solidFill>
                          <a:latin typeface="Calibri"/>
                        </a:defRPr>
                      </a:pPr>
                      <a:r>
                        <a:t>4.286</a:t>
                      </a:r>
                    </a:p>
                  </a:txBody>
                  <a:tcPr anchor="ctr"/>
                </a:tc>
                <a:tc>
                  <a:txBody>
                    <a:bodyPr/>
                    <a:lstStyle/>
                    <a:p>
                      <a:pPr>
                        <a:defRPr sz="1100">
                          <a:solidFill>
                            <a:srgbClr val="333333"/>
                          </a:solidFill>
                          <a:latin typeface="Calibri"/>
                        </a:defRPr>
                      </a:pPr>
                      <a:r>
                        <a:t>3.688</a:t>
                      </a:r>
                    </a:p>
                  </a:txBody>
                  <a:tcPr anchor="ctr"/>
                </a:tc>
              </a:tr>
            </a:tbl>
          </a:graphicData>
        </a:graphic>
      </p:graphicFrame>
      <p:sp>
        <p:nvSpPr>
          <p:cNvPr id="10" name="Rounded Rectangle 9"/>
          <p:cNvSpPr/>
          <p:nvPr/>
        </p:nvSpPr>
        <p:spPr>
          <a:xfrm>
            <a:off x="274320" y="5577840"/>
            <a:ext cx="8595360" cy="548640"/>
          </a:xfrm>
          <a:prstGeom prst="roundRect">
            <a:avLst/>
          </a:prstGeom>
          <a:solidFill>
            <a:srgbClr val="E8F0FE"/>
          </a:solidFill>
          <a:ln w="19050">
            <a:solidFill>
              <a:srgbClr val="0062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333333"/>
                </a:solidFill>
                <a:latin typeface="Calibri"/>
              </a:defRPr>
            </a:pPr>
            <a:r>
              <a:t>Takeaway: 15-42% speedup on 50-100 qubit circuits from cache-friendly DAG access. Identical speedup with rayon ON and OFF confirms the gain is purely from compute-then-apply batching. No regressions on small circuits. Rayon parallelism is ready for future 1000+ qubit circuits.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a:spAutoFit/>
          </a:bodyPr>
          <a:lstStyle/>
          <a:p>
            <a:pPr algn="l">
              <a:defRPr sz="2200" b="1">
                <a:solidFill>
                  <a:srgbClr val="0530AD"/>
                </a:solidFill>
                <a:latin typeface="Calibri"/>
              </a:defRPr>
            </a:pPr>
            <a:r>
              <a:t>3. 3-Qubit Block Synthesis: Separability Splitting for -5% CX Gates</a:t>
            </a:r>
          </a:p>
        </p:txBody>
      </p:sp>
      <p:sp>
        <p:nvSpPr>
          <p:cNvPr id="3" name="TextBox 2"/>
          <p:cNvSpPr txBox="1"/>
          <p:nvPr/>
        </p:nvSpPr>
        <p:spPr>
          <a:xfrm>
            <a:off x="457200" y="914400"/>
            <a:ext cx="3931920" cy="274320"/>
          </a:xfrm>
          <a:prstGeom prst="rect">
            <a:avLst/>
          </a:prstGeom>
          <a:noFill/>
        </p:spPr>
        <p:txBody>
          <a:bodyPr wrap="square">
            <a:spAutoFit/>
          </a:bodyPr>
          <a:lstStyle/>
          <a:p>
            <a:pPr algn="l">
              <a:defRPr sz="1600" b="1">
                <a:solidFill>
                  <a:srgbClr val="333333"/>
                </a:solidFill>
                <a:latin typeface="Calibri"/>
              </a:defRPr>
            </a:pPr>
            <a:r>
              <a:t>Problem &amp; Approach</a:t>
            </a:r>
          </a:p>
        </p:txBody>
      </p:sp>
      <p:sp>
        <p:nvSpPr>
          <p:cNvPr id="4" name="TextBox 3"/>
          <p:cNvSpPr txBox="1"/>
          <p:nvPr/>
        </p:nvSpPr>
        <p:spPr>
          <a:xfrm>
            <a:off x="457200" y="1234440"/>
            <a:ext cx="3931920" cy="2743200"/>
          </a:xfrm>
          <a:prstGeom prst="rect">
            <a:avLst/>
          </a:prstGeom>
          <a:noFill/>
        </p:spPr>
        <p:txBody>
          <a:bodyPr wrap="square">
            <a:spAutoFit/>
          </a:bodyPr>
          <a:lstStyle/>
          <a:p>
            <a:pPr>
              <a:spcAft>
                <a:spcPts val="200"/>
              </a:spcAft>
              <a:defRPr sz="1200" b="0">
                <a:solidFill>
                  <a:srgbClr val="333333"/>
                </a:solidFill>
                <a:latin typeface="Calibri"/>
              </a:defRPr>
            </a:pPr>
            <a:r>
              <a:t>Qiskit has excellent 2Q synthesis (KAK/Weyl: 0-3 CX)</a:t>
            </a:r>
          </a:p>
          <a:p>
            <a:pPr>
              <a:spcAft>
                <a:spcPts val="200"/>
              </a:spcAft>
              <a:defRPr sz="1200" b="0">
                <a:solidFill>
                  <a:srgbClr val="333333"/>
                </a:solidFill>
                <a:latin typeface="Calibri"/>
              </a:defRPr>
            </a:pPr>
            <a:r>
              <a:t>but no 3Q block optimization</a:t>
            </a:r>
          </a:p>
          <a:p>
            <a:pPr>
              <a:spcAft>
                <a:spcPts val="200"/>
              </a:spcAft>
              <a:defRPr sz="1200" b="0">
                <a:solidFill>
                  <a:srgbClr val="333333"/>
                </a:solidFill>
                <a:latin typeface="Calibri"/>
              </a:defRPr>
            </a:pPr>
            <a:r>
              <a:t>Many 3Q blocks contain "bystander" qubits that don't</a:t>
            </a:r>
          </a:p>
          <a:p>
            <a:pPr>
              <a:spcAft>
                <a:spcPts val="200"/>
              </a:spcAft>
              <a:defRPr sz="1200" b="0">
                <a:solidFill>
                  <a:srgbClr val="333333"/>
                </a:solidFill>
                <a:latin typeface="Calibri"/>
              </a:defRPr>
            </a:pPr>
            <a:r>
              <a:t>interact -- block is really 2Q + 1Q (tensor product)</a:t>
            </a:r>
          </a:p>
          <a:p>
            <a:pPr>
              <a:spcAft>
                <a:spcPts val="200"/>
              </a:spcAft>
              <a:defRPr sz="1200" b="0">
                <a:solidFill>
                  <a:srgbClr val="333333"/>
                </a:solidFill>
                <a:latin typeface="Calibri"/>
              </a:defRPr>
            </a:pPr>
          </a:p>
          <a:p>
            <a:pPr>
              <a:spcAft>
                <a:spcPts val="200"/>
              </a:spcAft>
              <a:defRPr sz="1200" b="1">
                <a:solidFill>
                  <a:srgbClr val="333333"/>
                </a:solidFill>
                <a:latin typeface="Calibri"/>
              </a:defRPr>
            </a:pPr>
            <a:r>
              <a:t>Sequential strategy:</a:t>
            </a:r>
          </a:p>
          <a:p>
            <a:pPr>
              <a:spcAft>
                <a:spcPts val="200"/>
              </a:spcAft>
              <a:defRPr sz="1200" b="0">
                <a:solidFill>
                  <a:srgbClr val="333333"/>
                </a:solidFill>
                <a:latin typeface="Calibri"/>
              </a:defRPr>
            </a:pPr>
            <a:r>
              <a:t>1. Run standard 2Q optimization (existing Level 2)</a:t>
            </a:r>
          </a:p>
          <a:p>
            <a:pPr>
              <a:spcAft>
                <a:spcPts val="200"/>
              </a:spcAft>
              <a:defRPr sz="1200" b="0">
                <a:solidFill>
                  <a:srgbClr val="333333"/>
                </a:solidFill>
                <a:latin typeface="Calibri"/>
              </a:defRPr>
            </a:pPr>
            <a:r>
              <a:t>2. Detect separable 3Q blocks (identity coefficient test)</a:t>
            </a:r>
          </a:p>
          <a:p>
            <a:pPr>
              <a:spcAft>
                <a:spcPts val="200"/>
              </a:spcAft>
              <a:defRPr sz="1200" b="0">
                <a:solidFill>
                  <a:srgbClr val="333333"/>
                </a:solidFill>
                <a:latin typeface="Calibri"/>
              </a:defRPr>
            </a:pPr>
            <a:r>
              <a:t>3. Split into 2Q + 1Q, route 2Q through KAK</a:t>
            </a:r>
          </a:p>
          <a:p>
            <a:pPr>
              <a:spcAft>
                <a:spcPts val="200"/>
              </a:spcAft>
              <a:defRPr sz="1200" b="0">
                <a:solidFill>
                  <a:srgbClr val="333333"/>
                </a:solidFill>
                <a:latin typeface="Calibri"/>
              </a:defRPr>
            </a:pPr>
            <a:r>
              <a:t>4. Guard QSD with &gt;14 CX threshold for remainder</a:t>
            </a:r>
          </a:p>
        </p:txBody>
      </p:sp>
      <p:sp>
        <p:nvSpPr>
          <p:cNvPr id="5" name="TextBox 4"/>
          <p:cNvSpPr txBox="1"/>
          <p:nvPr/>
        </p:nvSpPr>
        <p:spPr>
          <a:xfrm>
            <a:off x="4754880" y="914400"/>
            <a:ext cx="4114800" cy="274320"/>
          </a:xfrm>
          <a:prstGeom prst="rect">
            <a:avLst/>
          </a:prstGeom>
          <a:noFill/>
        </p:spPr>
        <p:txBody>
          <a:bodyPr wrap="square">
            <a:spAutoFit/>
          </a:bodyPr>
          <a:lstStyle/>
          <a:p>
            <a:pPr algn="l">
              <a:defRPr sz="1600" b="1">
                <a:solidFill>
                  <a:srgbClr val="1A803E"/>
                </a:solidFill>
                <a:latin typeface="Calibri"/>
              </a:defRPr>
            </a:pPr>
            <a:r>
              <a:t>Key Finding</a:t>
            </a:r>
          </a:p>
        </p:txBody>
      </p:sp>
      <p:sp>
        <p:nvSpPr>
          <p:cNvPr id="6" name="TextBox 5"/>
          <p:cNvSpPr txBox="1"/>
          <p:nvPr/>
        </p:nvSpPr>
        <p:spPr>
          <a:xfrm>
            <a:off x="4754880" y="1234440"/>
            <a:ext cx="4114800" cy="2560320"/>
          </a:xfrm>
          <a:prstGeom prst="rect">
            <a:avLst/>
          </a:prstGeom>
          <a:noFill/>
        </p:spPr>
        <p:txBody>
          <a:bodyPr wrap="square">
            <a:spAutoFit/>
          </a:bodyPr>
          <a:lstStyle/>
          <a:p>
            <a:pPr>
              <a:spcAft>
                <a:spcPts val="200"/>
              </a:spcAft>
              <a:defRPr sz="1200" b="1">
                <a:solidFill>
                  <a:srgbClr val="333333"/>
                </a:solidFill>
                <a:latin typeface="Calibri"/>
              </a:defRPr>
            </a:pPr>
            <a:r>
              <a:t>Separability accounts for 90% of all gains</a:t>
            </a:r>
          </a:p>
          <a:p>
            <a:pPr>
              <a:spcAft>
                <a:spcPts val="200"/>
              </a:spcAft>
              <a:defRPr sz="1200" b="0">
                <a:solidFill>
                  <a:srgbClr val="333333"/>
                </a:solidFill>
                <a:latin typeface="Calibri"/>
              </a:defRPr>
            </a:pPr>
            <a:r>
              <a:t>(8,966 of 9,964 CX gates saved)</a:t>
            </a:r>
          </a:p>
          <a:p>
            <a:pPr>
              <a:spcAft>
                <a:spcPts val="200"/>
              </a:spcAft>
              <a:defRPr sz="1200" b="0">
                <a:solidFill>
                  <a:srgbClr val="333333"/>
                </a:solidFill>
                <a:latin typeface="Calibri"/>
              </a:defRPr>
            </a:pPr>
          </a:p>
          <a:p>
            <a:pPr>
              <a:spcAft>
                <a:spcPts val="200"/>
              </a:spcAft>
              <a:defRPr sz="1200" b="0">
                <a:solidFill>
                  <a:srgbClr val="333333"/>
                </a:solidFill>
                <a:latin typeface="Calibri"/>
              </a:defRPr>
            </a:pPr>
            <a:r>
              <a:t>After 2Q KAK optimization, separability becomes</a:t>
            </a:r>
          </a:p>
          <a:p>
            <a:pPr>
              <a:spcAft>
                <a:spcPts val="200"/>
              </a:spcAft>
              <a:defRPr sz="1200" b="0">
                <a:solidFill>
                  <a:srgbClr val="333333"/>
                </a:solidFill>
                <a:latin typeface="Calibri"/>
              </a:defRPr>
            </a:pPr>
            <a:r>
              <a:t>more prevalent: 1,498 blocks vs ~500 before</a:t>
            </a:r>
          </a:p>
          <a:p>
            <a:pPr>
              <a:spcAft>
                <a:spcPts val="200"/>
              </a:spcAft>
              <a:defRPr sz="1200" b="0">
                <a:solidFill>
                  <a:srgbClr val="333333"/>
                </a:solidFill>
                <a:latin typeface="Calibri"/>
              </a:defRPr>
            </a:pPr>
            <a:r>
              <a:t>(KAK consolidation creates tensor-product structures)</a:t>
            </a:r>
          </a:p>
          <a:p>
            <a:pPr>
              <a:spcAft>
                <a:spcPts val="200"/>
              </a:spcAft>
              <a:defRPr sz="1200" b="0">
                <a:solidFill>
                  <a:srgbClr val="333333"/>
                </a:solidFill>
                <a:latin typeface="Calibri"/>
              </a:defRPr>
            </a:pPr>
          </a:p>
          <a:p>
            <a:pPr>
              <a:spcAft>
                <a:spcPts val="200"/>
              </a:spcAft>
              <a:defRPr sz="1200" b="0">
                <a:solidFill>
                  <a:srgbClr val="333333"/>
                </a:solidFill>
                <a:latin typeface="Calibri"/>
              </a:defRPr>
            </a:pPr>
            <a:r>
              <a:t>QSD contributes only 10% of savings, and only on</a:t>
            </a:r>
          </a:p>
          <a:p>
            <a:pPr>
              <a:spcAft>
                <a:spcPts val="200"/>
              </a:spcAft>
              <a:defRPr sz="1200" b="0">
                <a:solidFill>
                  <a:srgbClr val="333333"/>
                </a:solidFill>
                <a:latin typeface="Calibri"/>
              </a:defRPr>
            </a:pPr>
            <a:r>
              <a:t>circuits with dense 3Q blocks (e.g., multiplier)</a:t>
            </a:r>
          </a:p>
        </p:txBody>
      </p:sp>
      <p:sp>
        <p:nvSpPr>
          <p:cNvPr id="7" name="TextBox 6"/>
          <p:cNvSpPr txBox="1"/>
          <p:nvPr/>
        </p:nvSpPr>
        <p:spPr>
          <a:xfrm>
            <a:off x="457200" y="3931920"/>
            <a:ext cx="8229600" cy="274320"/>
          </a:xfrm>
          <a:prstGeom prst="rect">
            <a:avLst/>
          </a:prstGeom>
          <a:noFill/>
        </p:spPr>
        <p:txBody>
          <a:bodyPr wrap="square">
            <a:spAutoFit/>
          </a:bodyPr>
          <a:lstStyle/>
          <a:p>
            <a:pPr algn="l">
              <a:defRPr sz="1400" b="1">
                <a:solidFill>
                  <a:srgbClr val="333333"/>
                </a:solidFill>
                <a:latin typeface="Calibri"/>
              </a:defRPr>
            </a:pPr>
            <a:r>
              <a:t>Results: 8 Benchmark Circuits on FakeTorino, Level 2</a:t>
            </a:r>
          </a:p>
        </p:txBody>
      </p:sp>
      <p:graphicFrame>
        <p:nvGraphicFramePr>
          <p:cNvPr id="8" name="Table 7"/>
          <p:cNvGraphicFramePr>
            <a:graphicFrameLocks noGrp="1"/>
          </p:cNvGraphicFramePr>
          <p:nvPr/>
        </p:nvGraphicFramePr>
        <p:xfrm>
          <a:off x="457200" y="4251960"/>
          <a:ext cx="7772400" cy="1828800"/>
        </p:xfrm>
        <a:graphic>
          <a:graphicData uri="http://schemas.openxmlformats.org/drawingml/2006/table">
            <a:tbl>
              <a:tblPr firstRow="1" bandRow="1">
                <a:tableStyleId>{5C22544A-7EE6-4342-B048-85BDC9FD1C3A}</a:tableStyleId>
              </a:tblPr>
              <a:tblGrid>
                <a:gridCol w="1645920"/>
                <a:gridCol w="1371600"/>
                <a:gridCol w="1554480"/>
                <a:gridCol w="1371600"/>
                <a:gridCol w="1828800"/>
              </a:tblGrid>
              <a:tr h="304800">
                <a:tc>
                  <a:txBody>
                    <a:bodyPr/>
                    <a:lstStyle/>
                    <a:p>
                      <a:pPr>
                        <a:defRPr sz="1100" b="1">
                          <a:solidFill>
                            <a:srgbClr val="FFFFFF"/>
                          </a:solidFill>
                          <a:latin typeface="Calibri"/>
                        </a:defRPr>
                      </a:pPr>
                      <a:r>
                        <a:t>Circuit</a:t>
                      </a:r>
                    </a:p>
                  </a:txBody>
                  <a:tcPr anchor="ctr">
                    <a:solidFill>
                      <a:srgbClr val="0530AD"/>
                    </a:solidFill>
                  </a:tcPr>
                </a:tc>
                <a:tc>
                  <a:txBody>
                    <a:bodyPr/>
                    <a:lstStyle/>
                    <a:p>
                      <a:pPr>
                        <a:defRPr sz="1100" b="1">
                          <a:solidFill>
                            <a:srgbClr val="FFFFFF"/>
                          </a:solidFill>
                          <a:latin typeface="Calibri"/>
                        </a:defRPr>
                      </a:pPr>
                      <a:r>
                        <a:t>Baseline CX</a:t>
                      </a:r>
                    </a:p>
                  </a:txBody>
                  <a:tcPr anchor="ctr">
                    <a:solidFill>
                      <a:srgbClr val="0530AD"/>
                    </a:solidFill>
                  </a:tcPr>
                </a:tc>
                <a:tc>
                  <a:txBody>
                    <a:bodyPr/>
                    <a:lstStyle/>
                    <a:p>
                      <a:pPr>
                        <a:defRPr sz="1100" b="1">
                          <a:solidFill>
                            <a:srgbClr val="FFFFFF"/>
                          </a:solidFill>
                          <a:latin typeface="Calibri"/>
                        </a:defRPr>
                      </a:pPr>
                      <a:r>
                        <a:t>After 3Q Opt</a:t>
                      </a:r>
                    </a:p>
                  </a:txBody>
                  <a:tcPr anchor="ctr">
                    <a:solidFill>
                      <a:srgbClr val="0530AD"/>
                    </a:solidFill>
                  </a:tcPr>
                </a:tc>
                <a:tc>
                  <a:txBody>
                    <a:bodyPr/>
                    <a:lstStyle/>
                    <a:p>
                      <a:pPr>
                        <a:defRPr sz="1100" b="1">
                          <a:solidFill>
                            <a:srgbClr val="FFFFFF"/>
                          </a:solidFill>
                          <a:latin typeface="Calibri"/>
                        </a:defRPr>
                      </a:pPr>
                      <a:r>
                        <a:t>CX Reduction</a:t>
                      </a:r>
                    </a:p>
                  </a:txBody>
                  <a:tcPr anchor="ctr">
                    <a:solidFill>
                      <a:srgbClr val="0530AD"/>
                    </a:solidFill>
                  </a:tcPr>
                </a:tc>
                <a:tc>
                  <a:txBody>
                    <a:bodyPr/>
                    <a:lstStyle/>
                    <a:p>
                      <a:pPr>
                        <a:defRPr sz="1100" b="1">
                          <a:solidFill>
                            <a:srgbClr val="FFFFFF"/>
                          </a:solidFill>
                          <a:latin typeface="Calibri"/>
                        </a:defRPr>
                      </a:pPr>
                      <a:r>
                        <a:t>Separable Blocks</a:t>
                      </a:r>
                    </a:p>
                  </a:txBody>
                  <a:tcPr anchor="ctr">
                    <a:solidFill>
                      <a:srgbClr val="0530AD"/>
                    </a:solidFill>
                  </a:tcPr>
                </a:tc>
              </a:tr>
              <a:tr h="304800">
                <a:tc>
                  <a:txBody>
                    <a:bodyPr/>
                    <a:lstStyle/>
                    <a:p>
                      <a:pPr>
                        <a:defRPr sz="1100">
                          <a:solidFill>
                            <a:srgbClr val="333333"/>
                          </a:solidFill>
                          <a:latin typeface="Calibri"/>
                        </a:defRPr>
                      </a:pPr>
                      <a:r>
                        <a:t>QFT_100</a:t>
                      </a:r>
                    </a:p>
                  </a:txBody>
                  <a:tcPr anchor="ctr"/>
                </a:tc>
                <a:tc>
                  <a:txBody>
                    <a:bodyPr/>
                    <a:lstStyle/>
                    <a:p>
                      <a:pPr>
                        <a:defRPr sz="1100">
                          <a:solidFill>
                            <a:srgbClr val="333333"/>
                          </a:solidFill>
                          <a:latin typeface="Calibri"/>
                        </a:defRPr>
                      </a:pPr>
                      <a:r>
                        <a:t>9,528</a:t>
                      </a:r>
                    </a:p>
                  </a:txBody>
                  <a:tcPr anchor="ctr"/>
                </a:tc>
                <a:tc>
                  <a:txBody>
                    <a:bodyPr/>
                    <a:lstStyle/>
                    <a:p>
                      <a:pPr>
                        <a:defRPr sz="1100">
                          <a:solidFill>
                            <a:srgbClr val="333333"/>
                          </a:solidFill>
                          <a:latin typeface="Calibri"/>
                        </a:defRPr>
                      </a:pPr>
                      <a:r>
                        <a:t>9,279</a:t>
                      </a:r>
                    </a:p>
                  </a:txBody>
                  <a:tcPr anchor="ctr"/>
                </a:tc>
                <a:tc>
                  <a:txBody>
                    <a:bodyPr/>
                    <a:lstStyle/>
                    <a:p>
                      <a:pPr>
                        <a:defRPr sz="1100" b="1">
                          <a:solidFill>
                            <a:srgbClr val="1A803E"/>
                          </a:solidFill>
                          <a:latin typeface="Calibri"/>
                        </a:defRPr>
                      </a:pPr>
                      <a:r>
                        <a:t>-2.6%</a:t>
                      </a:r>
                    </a:p>
                  </a:txBody>
                  <a:tcPr anchor="ctr"/>
                </a:tc>
                <a:tc>
                  <a:txBody>
                    <a:bodyPr/>
                    <a:lstStyle/>
                    <a:p>
                      <a:pPr>
                        <a:defRPr sz="1100">
                          <a:solidFill>
                            <a:srgbClr val="333333"/>
                          </a:solidFill>
                          <a:latin typeface="Calibri"/>
                        </a:defRPr>
                      </a:pPr>
                      <a:r>
                        <a:t>312</a:t>
                      </a:r>
                    </a:p>
                  </a:txBody>
                  <a:tcPr anchor="ctr"/>
                </a:tc>
              </a:tr>
              <a:tr h="304800">
                <a:tc>
                  <a:txBody>
                    <a:bodyPr/>
                    <a:lstStyle/>
                    <a:p>
                      <a:pPr>
                        <a:defRPr sz="1100">
                          <a:solidFill>
                            <a:srgbClr val="333333"/>
                          </a:solidFill>
                          <a:latin typeface="Calibri"/>
                        </a:defRPr>
                      </a:pPr>
                      <a:r>
                        <a:t>QV_100</a:t>
                      </a:r>
                    </a:p>
                  </a:txBody>
                  <a:tcPr anchor="ctr">
                    <a:solidFill>
                      <a:srgbClr val="F5F5F5"/>
                    </a:solidFill>
                  </a:tcPr>
                </a:tc>
                <a:tc>
                  <a:txBody>
                    <a:bodyPr/>
                    <a:lstStyle/>
                    <a:p>
                      <a:pPr>
                        <a:defRPr sz="1100">
                          <a:solidFill>
                            <a:srgbClr val="333333"/>
                          </a:solidFill>
                          <a:latin typeface="Calibri"/>
                        </a:defRPr>
                      </a:pPr>
                      <a:r>
                        <a:t>96,474</a:t>
                      </a:r>
                    </a:p>
                  </a:txBody>
                  <a:tcPr anchor="ctr">
                    <a:solidFill>
                      <a:srgbClr val="F5F5F5"/>
                    </a:solidFill>
                  </a:tcPr>
                </a:tc>
                <a:tc>
                  <a:txBody>
                    <a:bodyPr/>
                    <a:lstStyle/>
                    <a:p>
                      <a:pPr>
                        <a:defRPr sz="1100">
                          <a:solidFill>
                            <a:srgbClr val="333333"/>
                          </a:solidFill>
                          <a:latin typeface="Calibri"/>
                        </a:defRPr>
                      </a:pPr>
                      <a:r>
                        <a:t>91,932</a:t>
                      </a:r>
                    </a:p>
                  </a:txBody>
                  <a:tcPr anchor="ctr">
                    <a:solidFill>
                      <a:srgbClr val="F5F5F5"/>
                    </a:solidFill>
                  </a:tcPr>
                </a:tc>
                <a:tc>
                  <a:txBody>
                    <a:bodyPr/>
                    <a:lstStyle/>
                    <a:p>
                      <a:pPr>
                        <a:defRPr sz="1100" b="1">
                          <a:solidFill>
                            <a:srgbClr val="1A803E"/>
                          </a:solidFill>
                          <a:latin typeface="Calibri"/>
                        </a:defRPr>
                      </a:pPr>
                      <a:r>
                        <a:t>-4.7%</a:t>
                      </a:r>
                    </a:p>
                  </a:txBody>
                  <a:tcPr anchor="ctr">
                    <a:solidFill>
                      <a:srgbClr val="F5F5F5"/>
                    </a:solidFill>
                  </a:tcPr>
                </a:tc>
                <a:tc>
                  <a:txBody>
                    <a:bodyPr/>
                    <a:lstStyle/>
                    <a:p>
                      <a:pPr>
                        <a:defRPr sz="1100">
                          <a:solidFill>
                            <a:srgbClr val="333333"/>
                          </a:solidFill>
                          <a:latin typeface="Calibri"/>
                        </a:defRPr>
                      </a:pPr>
                      <a:r>
                        <a:t>408</a:t>
                      </a:r>
                    </a:p>
                  </a:txBody>
                  <a:tcPr anchor="ctr">
                    <a:solidFill>
                      <a:srgbClr val="F5F5F5"/>
                    </a:solidFill>
                  </a:tcPr>
                </a:tc>
              </a:tr>
              <a:tr h="304800">
                <a:tc>
                  <a:txBody>
                    <a:bodyPr/>
                    <a:lstStyle/>
                    <a:p>
                      <a:pPr>
                        <a:defRPr sz="1100">
                          <a:solidFill>
                            <a:srgbClr val="333333"/>
                          </a:solidFill>
                          <a:latin typeface="Calibri"/>
                        </a:defRPr>
                      </a:pPr>
                      <a:r>
                        <a:t>QAOA_100</a:t>
                      </a:r>
                    </a:p>
                  </a:txBody>
                  <a:tcPr anchor="ctr"/>
                </a:tc>
                <a:tc>
                  <a:txBody>
                    <a:bodyPr/>
                    <a:lstStyle/>
                    <a:p>
                      <a:pPr>
                        <a:defRPr sz="1100">
                          <a:solidFill>
                            <a:srgbClr val="333333"/>
                          </a:solidFill>
                          <a:latin typeface="Calibri"/>
                        </a:defRPr>
                      </a:pPr>
                      <a:r>
                        <a:t>186</a:t>
                      </a:r>
                    </a:p>
                  </a:txBody>
                  <a:tcPr anchor="ctr"/>
                </a:tc>
                <a:tc>
                  <a:txBody>
                    <a:bodyPr/>
                    <a:lstStyle/>
                    <a:p>
                      <a:pPr>
                        <a:defRPr sz="1100">
                          <a:solidFill>
                            <a:srgbClr val="333333"/>
                          </a:solidFill>
                          <a:latin typeface="Calibri"/>
                        </a:defRPr>
                      </a:pPr>
                      <a:r>
                        <a:t>176</a:t>
                      </a:r>
                    </a:p>
                  </a:txBody>
                  <a:tcPr anchor="ctr"/>
                </a:tc>
                <a:tc>
                  <a:txBody>
                    <a:bodyPr/>
                    <a:lstStyle/>
                    <a:p>
                      <a:pPr>
                        <a:defRPr sz="1100" b="1">
                          <a:solidFill>
                            <a:srgbClr val="1A803E"/>
                          </a:solidFill>
                          <a:latin typeface="Calibri"/>
                        </a:defRPr>
                      </a:pPr>
                      <a:r>
                        <a:t>-5.7%</a:t>
                      </a:r>
                    </a:p>
                  </a:txBody>
                  <a:tcPr anchor="ctr"/>
                </a:tc>
                <a:tc>
                  <a:txBody>
                    <a:bodyPr/>
                    <a:lstStyle/>
                    <a:p>
                      <a:pPr>
                        <a:defRPr sz="1100">
                          <a:solidFill>
                            <a:srgbClr val="333333"/>
                          </a:solidFill>
                          <a:latin typeface="Calibri"/>
                        </a:defRPr>
                      </a:pPr>
                      <a:r>
                        <a:t>52</a:t>
                      </a:r>
                    </a:p>
                  </a:txBody>
                  <a:tcPr anchor="ctr"/>
                </a:tc>
              </a:tr>
              <a:tr h="304800">
                <a:tc>
                  <a:txBody>
                    <a:bodyPr/>
                    <a:lstStyle/>
                    <a:p>
                      <a:pPr>
                        <a:defRPr sz="1100">
                          <a:solidFill>
                            <a:srgbClr val="333333"/>
                          </a:solidFill>
                          <a:latin typeface="Calibri"/>
                        </a:defRPr>
                      </a:pPr>
                      <a:r>
                        <a:t>Random_100</a:t>
                      </a:r>
                    </a:p>
                  </a:txBody>
                  <a:tcPr anchor="ctr">
                    <a:solidFill>
                      <a:srgbClr val="F5F5F5"/>
                    </a:solidFill>
                  </a:tcPr>
                </a:tc>
                <a:tc>
                  <a:txBody>
                    <a:bodyPr/>
                    <a:lstStyle/>
                    <a:p>
                      <a:pPr>
                        <a:defRPr sz="1100">
                          <a:solidFill>
                            <a:srgbClr val="333333"/>
                          </a:solidFill>
                          <a:latin typeface="Calibri"/>
                        </a:defRPr>
                      </a:pPr>
                      <a:r>
                        <a:t>12,845</a:t>
                      </a:r>
                    </a:p>
                  </a:txBody>
                  <a:tcPr anchor="ctr">
                    <a:solidFill>
                      <a:srgbClr val="F5F5F5"/>
                    </a:solidFill>
                  </a:tcPr>
                </a:tc>
                <a:tc>
                  <a:txBody>
                    <a:bodyPr/>
                    <a:lstStyle/>
                    <a:p>
                      <a:pPr>
                        <a:defRPr sz="1100">
                          <a:solidFill>
                            <a:srgbClr val="333333"/>
                          </a:solidFill>
                          <a:latin typeface="Calibri"/>
                        </a:defRPr>
                      </a:pPr>
                      <a:r>
                        <a:t>12,137</a:t>
                      </a:r>
                    </a:p>
                  </a:txBody>
                  <a:tcPr anchor="ctr">
                    <a:solidFill>
                      <a:srgbClr val="F5F5F5"/>
                    </a:solidFill>
                  </a:tcPr>
                </a:tc>
                <a:tc>
                  <a:txBody>
                    <a:bodyPr/>
                    <a:lstStyle/>
                    <a:p>
                      <a:pPr>
                        <a:defRPr sz="1100" b="1">
                          <a:solidFill>
                            <a:srgbClr val="1A803E"/>
                          </a:solidFill>
                          <a:latin typeface="Calibri"/>
                        </a:defRPr>
                      </a:pPr>
                      <a:r>
                        <a:t>-5.5%</a:t>
                      </a:r>
                    </a:p>
                  </a:txBody>
                  <a:tcPr anchor="ctr">
                    <a:solidFill>
                      <a:srgbClr val="F5F5F5"/>
                    </a:solidFill>
                  </a:tcPr>
                </a:tc>
                <a:tc>
                  <a:txBody>
                    <a:bodyPr/>
                    <a:lstStyle/>
                    <a:p>
                      <a:pPr>
                        <a:defRPr sz="1100">
                          <a:solidFill>
                            <a:srgbClr val="333333"/>
                          </a:solidFill>
                          <a:latin typeface="Calibri"/>
                        </a:defRPr>
                      </a:pPr>
                      <a:r>
                        <a:t>326</a:t>
                      </a:r>
                    </a:p>
                  </a:txBody>
                  <a:tcPr anchor="ctr">
                    <a:solidFill>
                      <a:srgbClr val="F5F5F5"/>
                    </a:solidFill>
                  </a:tcPr>
                </a:tc>
              </a:tr>
              <a:tr h="304800">
                <a:tc>
                  <a:txBody>
                    <a:bodyPr/>
                    <a:lstStyle/>
                    <a:p>
                      <a:pPr>
                        <a:defRPr sz="1100">
                          <a:solidFill>
                            <a:srgbClr val="333333"/>
                          </a:solidFill>
                          <a:latin typeface="Calibri"/>
                        </a:defRPr>
                      </a:pPr>
                      <a:r>
                        <a:t>Multiplier_10</a:t>
                      </a:r>
                    </a:p>
                  </a:txBody>
                  <a:tcPr anchor="ctr"/>
                </a:tc>
                <a:tc>
                  <a:txBody>
                    <a:bodyPr/>
                    <a:lstStyle/>
                    <a:p>
                      <a:pPr>
                        <a:defRPr sz="1100">
                          <a:solidFill>
                            <a:srgbClr val="333333"/>
                          </a:solidFill>
                          <a:latin typeface="Calibri"/>
                        </a:defRPr>
                      </a:pPr>
                      <a:r>
                        <a:t>4,120</a:t>
                      </a:r>
                    </a:p>
                  </a:txBody>
                  <a:tcPr anchor="ctr"/>
                </a:tc>
                <a:tc>
                  <a:txBody>
                    <a:bodyPr/>
                    <a:lstStyle/>
                    <a:p>
                      <a:pPr>
                        <a:defRPr sz="1100">
                          <a:solidFill>
                            <a:srgbClr val="333333"/>
                          </a:solidFill>
                          <a:latin typeface="Calibri"/>
                        </a:defRPr>
                      </a:pPr>
                      <a:r>
                        <a:t>3,861</a:t>
                      </a:r>
                    </a:p>
                  </a:txBody>
                  <a:tcPr anchor="ctr"/>
                </a:tc>
                <a:tc>
                  <a:txBody>
                    <a:bodyPr/>
                    <a:lstStyle/>
                    <a:p>
                      <a:pPr>
                        <a:defRPr sz="1100" b="1">
                          <a:solidFill>
                            <a:srgbClr val="1A803E"/>
                          </a:solidFill>
                          <a:latin typeface="Calibri"/>
                        </a:defRPr>
                      </a:pPr>
                      <a:r>
                        <a:t>-6.3%</a:t>
                      </a:r>
                    </a:p>
                  </a:txBody>
                  <a:tcPr anchor="ctr"/>
                </a:tc>
                <a:tc>
                  <a:txBody>
                    <a:bodyPr/>
                    <a:lstStyle/>
                    <a:p>
                      <a:pPr>
                        <a:defRPr sz="1100">
                          <a:solidFill>
                            <a:srgbClr val="333333"/>
                          </a:solidFill>
                          <a:latin typeface="Calibri"/>
                        </a:defRPr>
                      </a:pPr>
                      <a:r>
                        <a:t>181 (QSD)</a:t>
                      </a:r>
                    </a:p>
                  </a:txBody>
                  <a:tcPr anchor="ctr"/>
                </a:tc>
              </a:tr>
            </a:tbl>
          </a:graphicData>
        </a:graphic>
      </p:graphicFrame>
      <p:sp>
        <p:nvSpPr>
          <p:cNvPr id="9" name="TextBox 8"/>
          <p:cNvSpPr txBox="1"/>
          <p:nvPr/>
        </p:nvSpPr>
        <p:spPr>
          <a:xfrm>
            <a:off x="457200" y="5943600"/>
            <a:ext cx="8229600" cy="274320"/>
          </a:xfrm>
          <a:prstGeom prst="rect">
            <a:avLst/>
          </a:prstGeom>
          <a:noFill/>
        </p:spPr>
        <p:txBody>
          <a:bodyPr wrap="square">
            <a:spAutoFit/>
          </a:bodyPr>
          <a:lstStyle/>
          <a:p>
            <a:pPr algn="l">
              <a:defRPr sz="1100" b="0">
                <a:solidFill>
                  <a:srgbClr val="666666"/>
                </a:solidFill>
                <a:latin typeface="Calibri"/>
              </a:defRPr>
            </a:pPr>
            <a:r>
              <a:t>Recommendation: Implement separability splitting as a Python pass (low effort, high impact). Guard QSD with &gt;14 CX threshold for targeted gains on dense circuits.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a:spAutoFit/>
          </a:bodyPr>
          <a:lstStyle/>
          <a:p>
            <a:pPr algn="l">
              <a:defRPr sz="2600" b="1">
                <a:solidFill>
                  <a:srgbClr val="0530AD"/>
                </a:solidFill>
                <a:latin typeface="Calibri"/>
              </a:defRPr>
            </a:pPr>
            <a:r>
              <a:t>Summary &amp; Next Steps</a:t>
            </a:r>
          </a:p>
        </p:txBody>
      </p:sp>
      <p:graphicFrame>
        <p:nvGraphicFramePr>
          <p:cNvPr id="3" name="Table 2"/>
          <p:cNvGraphicFramePr>
            <a:graphicFrameLocks noGrp="1"/>
          </p:cNvGraphicFramePr>
          <p:nvPr/>
        </p:nvGraphicFramePr>
        <p:xfrm>
          <a:off x="274320" y="1005840"/>
          <a:ext cx="8595360" cy="1371600"/>
        </p:xfrm>
        <a:graphic>
          <a:graphicData uri="http://schemas.openxmlformats.org/drawingml/2006/table">
            <a:tbl>
              <a:tblPr firstRow="1" bandRow="1">
                <a:tableStyleId>{5C22544A-7EE6-4342-B048-85BDC9FD1C3A}</a:tableStyleId>
              </a:tblPr>
              <a:tblGrid>
                <a:gridCol w="2103120"/>
                <a:gridCol w="1645920"/>
                <a:gridCol w="3200400"/>
                <a:gridCol w="1645920"/>
              </a:tblGrid>
              <a:tr h="342900">
                <a:tc>
                  <a:txBody>
                    <a:bodyPr/>
                    <a:lstStyle/>
                    <a:p>
                      <a:pPr>
                        <a:defRPr sz="1100" b="1">
                          <a:solidFill>
                            <a:srgbClr val="FFFFFF"/>
                          </a:solidFill>
                          <a:latin typeface="Calibri"/>
                        </a:defRPr>
                      </a:pPr>
                      <a:r>
                        <a:t>Investigation</a:t>
                      </a:r>
                    </a:p>
                  </a:txBody>
                  <a:tcPr anchor="ctr">
                    <a:solidFill>
                      <a:srgbClr val="0530AD"/>
                    </a:solidFill>
                  </a:tcPr>
                </a:tc>
                <a:tc>
                  <a:txBody>
                    <a:bodyPr/>
                    <a:lstStyle/>
                    <a:p>
                      <a:pPr>
                        <a:defRPr sz="1100" b="1">
                          <a:solidFill>
                            <a:srgbClr val="FFFFFF"/>
                          </a:solidFill>
                          <a:latin typeface="Calibri"/>
                        </a:defRPr>
                      </a:pPr>
                      <a:r>
                        <a:t>Status</a:t>
                      </a:r>
                    </a:p>
                  </a:txBody>
                  <a:tcPr anchor="ctr">
                    <a:solidFill>
                      <a:srgbClr val="0530AD"/>
                    </a:solidFill>
                  </a:tcPr>
                </a:tc>
                <a:tc>
                  <a:txBody>
                    <a:bodyPr/>
                    <a:lstStyle/>
                    <a:p>
                      <a:pPr>
                        <a:defRPr sz="1100" b="1">
                          <a:solidFill>
                            <a:srgbClr val="FFFFFF"/>
                          </a:solidFill>
                          <a:latin typeface="Calibri"/>
                        </a:defRPr>
                      </a:pPr>
                      <a:r>
                        <a:t>Impact</a:t>
                      </a:r>
                    </a:p>
                  </a:txBody>
                  <a:tcPr anchor="ctr">
                    <a:solidFill>
                      <a:srgbClr val="0530AD"/>
                    </a:solidFill>
                  </a:tcPr>
                </a:tc>
                <a:tc>
                  <a:txBody>
                    <a:bodyPr/>
                    <a:lstStyle/>
                    <a:p>
                      <a:pPr>
                        <a:defRPr sz="1100" b="1">
                          <a:solidFill>
                            <a:srgbClr val="FFFFFF"/>
                          </a:solidFill>
                          <a:latin typeface="Calibri"/>
                        </a:defRPr>
                      </a:pPr>
                      <a:r>
                        <a:t>Effort</a:t>
                      </a:r>
                    </a:p>
                  </a:txBody>
                  <a:tcPr anchor="ctr">
                    <a:solidFill>
                      <a:srgbClr val="0530AD"/>
                    </a:solidFill>
                  </a:tcPr>
                </a:tc>
              </a:tr>
              <a:tr h="342900">
                <a:tc>
                  <a:txBody>
                    <a:bodyPr/>
                    <a:lstStyle/>
                    <a:p>
                      <a:pPr>
                        <a:defRPr sz="1100">
                          <a:solidFill>
                            <a:srgbClr val="333333"/>
                          </a:solidFill>
                          <a:latin typeface="Calibri"/>
                        </a:defRPr>
                      </a:pPr>
                      <a:r>
                        <a:t>Optimization Loop</a:t>
                      </a:r>
                    </a:p>
                  </a:txBody>
                  <a:tcPr anchor="ctr"/>
                </a:tc>
                <a:tc>
                  <a:txBody>
                    <a:bodyPr/>
                    <a:lstStyle/>
                    <a:p>
                      <a:pPr>
                        <a:defRPr sz="1100">
                          <a:solidFill>
                            <a:srgbClr val="333333"/>
                          </a:solidFill>
                          <a:latin typeface="Calibri"/>
                        </a:defRPr>
                      </a:pPr>
                      <a:r>
                        <a:t>Prototype done</a:t>
                      </a:r>
                    </a:p>
                  </a:txBody>
                  <a:tcPr anchor="ctr"/>
                </a:tc>
                <a:tc>
                  <a:txBody>
                    <a:bodyPr/>
                    <a:lstStyle/>
                    <a:p>
                      <a:pPr>
                        <a:defRPr sz="1100">
                          <a:solidFill>
                            <a:srgbClr val="333333"/>
                          </a:solidFill>
                          <a:latin typeface="Calibri"/>
                        </a:defRPr>
                      </a:pPr>
                      <a:r>
                        <a:t>Eliminates redundant confirmation iteration</a:t>
                      </a:r>
                    </a:p>
                  </a:txBody>
                  <a:tcPr anchor="ctr"/>
                </a:tc>
                <a:tc>
                  <a:txBody>
                    <a:bodyPr/>
                    <a:lstStyle/>
                    <a:p>
                      <a:pPr>
                        <a:defRPr sz="1100">
                          <a:solidFill>
                            <a:srgbClr val="333333"/>
                          </a:solidFill>
                          <a:latin typeface="Calibri"/>
                        </a:defRPr>
                      </a:pPr>
                      <a:r>
                        <a:t>Low (flag change)</a:t>
                      </a:r>
                    </a:p>
                  </a:txBody>
                  <a:tcPr anchor="ctr"/>
                </a:tc>
              </a:tr>
              <a:tr h="342900">
                <a:tc>
                  <a:txBody>
                    <a:bodyPr/>
                    <a:lstStyle/>
                    <a:p>
                      <a:pPr>
                        <a:defRPr sz="1100">
                          <a:solidFill>
                            <a:srgbClr val="333333"/>
                          </a:solidFill>
                          <a:latin typeface="Calibri"/>
                        </a:defRPr>
                      </a:pPr>
                      <a:r>
                        <a:t>Compute-Then-Apply</a:t>
                      </a:r>
                    </a:p>
                  </a:txBody>
                  <a:tcPr anchor="ctr">
                    <a:solidFill>
                      <a:srgbClr val="F5F5F5"/>
                    </a:solidFill>
                  </a:tcPr>
                </a:tc>
                <a:tc>
                  <a:txBody>
                    <a:bodyPr/>
                    <a:lstStyle/>
                    <a:p>
                      <a:pPr>
                        <a:defRPr sz="1100">
                          <a:solidFill>
                            <a:srgbClr val="333333"/>
                          </a:solidFill>
                          <a:latin typeface="Calibri"/>
                        </a:defRPr>
                      </a:pPr>
                      <a:r>
                        <a:t>Implemented (fork)</a:t>
                      </a:r>
                    </a:p>
                  </a:txBody>
                  <a:tcPr anchor="ctr">
                    <a:solidFill>
                      <a:srgbClr val="F5F5F5"/>
                    </a:solidFill>
                  </a:tcPr>
                </a:tc>
                <a:tc>
                  <a:txBody>
                    <a:bodyPr/>
                    <a:lstStyle/>
                    <a:p>
                      <a:pPr>
                        <a:defRPr sz="1100">
                          <a:solidFill>
                            <a:srgbClr val="333333"/>
                          </a:solidFill>
                          <a:latin typeface="Calibri"/>
                        </a:defRPr>
                      </a:pPr>
                      <a:r>
                        <a:t>15-42% speedup on opt passes</a:t>
                      </a:r>
                    </a:p>
                  </a:txBody>
                  <a:tcPr anchor="ctr">
                    <a:solidFill>
                      <a:srgbClr val="F5F5F5"/>
                    </a:solidFill>
                  </a:tcPr>
                </a:tc>
                <a:tc>
                  <a:txBody>
                    <a:bodyPr/>
                    <a:lstStyle/>
                    <a:p>
                      <a:pPr>
                        <a:defRPr sz="1100">
                          <a:solidFill>
                            <a:srgbClr val="333333"/>
                          </a:solidFill>
                          <a:latin typeface="Calibri"/>
                        </a:defRPr>
                      </a:pPr>
                      <a:r>
                        <a:t>Medium (Rust refactor)</a:t>
                      </a:r>
                    </a:p>
                  </a:txBody>
                  <a:tcPr anchor="ctr">
                    <a:solidFill>
                      <a:srgbClr val="F5F5F5"/>
                    </a:solidFill>
                  </a:tcPr>
                </a:tc>
              </a:tr>
              <a:tr h="342900">
                <a:tc>
                  <a:txBody>
                    <a:bodyPr/>
                    <a:lstStyle/>
                    <a:p>
                      <a:pPr>
                        <a:defRPr sz="1100">
                          <a:solidFill>
                            <a:srgbClr val="333333"/>
                          </a:solidFill>
                          <a:latin typeface="Calibri"/>
                        </a:defRPr>
                      </a:pPr>
                      <a:r>
                        <a:t>3Q Block Synthesis</a:t>
                      </a:r>
                    </a:p>
                  </a:txBody>
                  <a:tcPr anchor="ctr"/>
                </a:tc>
                <a:tc>
                  <a:txBody>
                    <a:bodyPr/>
                    <a:lstStyle/>
                    <a:p>
                      <a:pPr>
                        <a:defRPr sz="1100">
                          <a:solidFill>
                            <a:srgbClr val="333333"/>
                          </a:solidFill>
                          <a:latin typeface="Calibri"/>
                        </a:defRPr>
                      </a:pPr>
                      <a:r>
                        <a:t>Prototype done</a:t>
                      </a:r>
                    </a:p>
                  </a:txBody>
                  <a:tcPr anchor="ctr"/>
                </a:tc>
                <a:tc>
                  <a:txBody>
                    <a:bodyPr/>
                    <a:lstStyle/>
                    <a:p>
                      <a:pPr>
                        <a:defRPr sz="1100">
                          <a:solidFill>
                            <a:srgbClr val="333333"/>
                          </a:solidFill>
                          <a:latin typeface="Calibri"/>
                        </a:defRPr>
                      </a:pPr>
                      <a:r>
                        <a:t>-5% CX gates across benchmarks</a:t>
                      </a:r>
                    </a:p>
                  </a:txBody>
                  <a:tcPr anchor="ctr"/>
                </a:tc>
                <a:tc>
                  <a:txBody>
                    <a:bodyPr/>
                    <a:lstStyle/>
                    <a:p>
                      <a:pPr>
                        <a:defRPr sz="1100">
                          <a:solidFill>
                            <a:srgbClr val="333333"/>
                          </a:solidFill>
                          <a:latin typeface="Calibri"/>
                        </a:defRPr>
                      </a:pPr>
                      <a:r>
                        <a:t>Low (Python pass)</a:t>
                      </a:r>
                    </a:p>
                  </a:txBody>
                  <a:tcPr anchor="ctr"/>
                </a:tc>
              </a:tr>
            </a:tbl>
          </a:graphicData>
        </a:graphic>
      </p:graphicFrame>
      <p:sp>
        <p:nvSpPr>
          <p:cNvPr id="4" name="TextBox 3"/>
          <p:cNvSpPr txBox="1"/>
          <p:nvPr/>
        </p:nvSpPr>
        <p:spPr>
          <a:xfrm>
            <a:off x="457200" y="2743200"/>
            <a:ext cx="8229600" cy="274320"/>
          </a:xfrm>
          <a:prstGeom prst="rect">
            <a:avLst/>
          </a:prstGeom>
          <a:noFill/>
        </p:spPr>
        <p:txBody>
          <a:bodyPr wrap="square">
            <a:spAutoFit/>
          </a:bodyPr>
          <a:lstStyle/>
          <a:p>
            <a:pPr algn="l">
              <a:defRPr sz="1800" b="1">
                <a:solidFill>
                  <a:srgbClr val="333333"/>
                </a:solidFill>
                <a:latin typeface="Calibri"/>
              </a:defRPr>
            </a:pPr>
            <a:r>
              <a:t>Key Insights</a:t>
            </a:r>
          </a:p>
        </p:txBody>
      </p:sp>
      <p:sp>
        <p:nvSpPr>
          <p:cNvPr id="5" name="TextBox 4"/>
          <p:cNvSpPr txBox="1"/>
          <p:nvPr/>
        </p:nvSpPr>
        <p:spPr>
          <a:xfrm>
            <a:off x="457200" y="3108960"/>
            <a:ext cx="8229600" cy="1645920"/>
          </a:xfrm>
          <a:prstGeom prst="rect">
            <a:avLst/>
          </a:prstGeom>
          <a:noFill/>
        </p:spPr>
        <p:txBody>
          <a:bodyPr wrap="square">
            <a:spAutoFit/>
          </a:bodyPr>
          <a:lstStyle/>
          <a:p>
            <a:pPr>
              <a:spcAft>
                <a:spcPts val="600"/>
              </a:spcAft>
              <a:defRPr sz="1300" b="0">
                <a:solidFill>
                  <a:srgbClr val="333333"/>
                </a:solidFill>
                <a:latin typeface="Calibri"/>
              </a:defRPr>
            </a:pPr>
            <a:r>
              <a:t>All three optimizations are orthogonal -- they compose without interference</a:t>
            </a:r>
          </a:p>
          <a:p>
            <a:pPr>
              <a:spcAft>
                <a:spcPts val="600"/>
              </a:spcAft>
              <a:defRPr sz="1300" b="0">
                <a:solidFill>
                  <a:srgbClr val="333333"/>
                </a:solidFill>
                <a:latin typeface="Calibri"/>
              </a:defRPr>
            </a:pPr>
            <a:r>
              <a:t>The L2 loop's convergence check (FixedPoint) always forces a redundant confirmation iteration</a:t>
            </a:r>
          </a:p>
          <a:p>
            <a:pPr>
              <a:spcAft>
                <a:spcPts val="600"/>
              </a:spcAft>
              <a:defRPr sz="1300" b="0">
                <a:solidFill>
                  <a:srgbClr val="333333"/>
                </a:solidFill>
                <a:latin typeface="Calibri"/>
              </a:defRPr>
            </a:pPr>
            <a:r>
              <a:t>The parallelization hypothesis was wrong: actual gain is from cache-friendly memory access</a:t>
            </a:r>
          </a:p>
          <a:p>
            <a:pPr>
              <a:spcAft>
                <a:spcPts val="600"/>
              </a:spcAft>
              <a:defRPr sz="1300" b="0">
                <a:solidFill>
                  <a:srgbClr val="333333"/>
                </a:solidFill>
                <a:latin typeface="Calibri"/>
              </a:defRPr>
            </a:pPr>
            <a:r>
              <a:t>3Q synthesis gains are dominated by separability (90%), not decomposition algorithms</a:t>
            </a:r>
          </a:p>
        </p:txBody>
      </p:sp>
      <p:sp>
        <p:nvSpPr>
          <p:cNvPr id="6" name="TextBox 5"/>
          <p:cNvSpPr txBox="1"/>
          <p:nvPr/>
        </p:nvSpPr>
        <p:spPr>
          <a:xfrm>
            <a:off x="457200" y="4572000"/>
            <a:ext cx="8229600" cy="274320"/>
          </a:xfrm>
          <a:prstGeom prst="rect">
            <a:avLst/>
          </a:prstGeom>
          <a:noFill/>
        </p:spPr>
        <p:txBody>
          <a:bodyPr wrap="square">
            <a:spAutoFit/>
          </a:bodyPr>
          <a:lstStyle/>
          <a:p>
            <a:pPr algn="l">
              <a:defRPr sz="1800" b="1">
                <a:solidFill>
                  <a:srgbClr val="333333"/>
                </a:solidFill>
                <a:latin typeface="Calibri"/>
              </a:defRPr>
            </a:pPr>
            <a:r>
              <a:t>Next Steps</a:t>
            </a:r>
          </a:p>
        </p:txBody>
      </p:sp>
      <p:sp>
        <p:nvSpPr>
          <p:cNvPr id="7" name="TextBox 6"/>
          <p:cNvSpPr txBox="1"/>
          <p:nvPr/>
        </p:nvSpPr>
        <p:spPr>
          <a:xfrm>
            <a:off x="457200" y="4937760"/>
            <a:ext cx="8229600" cy="1371600"/>
          </a:xfrm>
          <a:prstGeom prst="rect">
            <a:avLst/>
          </a:prstGeom>
          <a:noFill/>
        </p:spPr>
        <p:txBody>
          <a:bodyPr wrap="square">
            <a:spAutoFit/>
          </a:bodyPr>
          <a:lstStyle/>
          <a:p>
            <a:pPr>
              <a:spcAft>
                <a:spcPts val="600"/>
              </a:spcAft>
              <a:defRPr sz="1300" b="0">
                <a:solidFill>
                  <a:srgbClr val="333333"/>
                </a:solidFill>
                <a:latin typeface="Calibri"/>
              </a:defRPr>
            </a:pPr>
            <a:r>
              <a:t>Seek feedback from Qiskit transpiler team on all three proposals</a:t>
            </a:r>
          </a:p>
          <a:p>
            <a:pPr>
              <a:spcAft>
                <a:spcPts val="600"/>
              </a:spcAft>
              <a:defRPr sz="1300" b="0">
                <a:solidFill>
                  <a:srgbClr val="333333"/>
                </a:solidFill>
                <a:latin typeface="Calibri"/>
              </a:defRPr>
            </a:pPr>
            <a:r>
              <a:t>Optimization loop: propose changed-flag approach for Level 2</a:t>
            </a:r>
          </a:p>
          <a:p>
            <a:pPr>
              <a:spcAft>
                <a:spcPts val="600"/>
              </a:spcAft>
              <a:defRPr sz="1300" b="0">
                <a:solidFill>
                  <a:srgbClr val="333333"/>
                </a:solidFill>
                <a:latin typeface="Calibri"/>
              </a:defRPr>
            </a:pPr>
            <a:r>
              <a:t>Compute-then-apply: submit PR to Qiskit (branch: parallel-optimization-passes)</a:t>
            </a:r>
          </a:p>
          <a:p>
            <a:pPr>
              <a:spcAft>
                <a:spcPts val="600"/>
              </a:spcAft>
              <a:defRPr sz="1300" b="0">
                <a:solidFill>
                  <a:srgbClr val="333333"/>
                </a:solidFill>
                <a:latin typeface="Calibri"/>
              </a:defRPr>
            </a:pPr>
            <a:r>
              <a:t>3Q synthesis: implement separability pass, integrate into Level 2 pipeline</a:t>
            </a:r>
          </a:p>
        </p:txBody>
      </p:sp>
      <p:sp>
        <p:nvSpPr>
          <p:cNvPr id="8" name="TextBox 7"/>
          <p:cNvSpPr txBox="1"/>
          <p:nvPr/>
        </p:nvSpPr>
        <p:spPr>
          <a:xfrm>
            <a:off x="457200" y="6126480"/>
            <a:ext cx="8229600" cy="274320"/>
          </a:xfrm>
          <a:prstGeom prst="rect">
            <a:avLst/>
          </a:prstGeom>
          <a:noFill/>
        </p:spPr>
        <p:txBody>
          <a:bodyPr wrap="square">
            <a:spAutoFit/>
          </a:bodyPr>
          <a:lstStyle/>
          <a:p>
            <a:pPr algn="l">
              <a:defRPr sz="1100" b="0">
                <a:solidFill>
                  <a:srgbClr val="666666"/>
                </a:solidFill>
                <a:latin typeface="Calibri"/>
              </a:defRPr>
            </a:pPr>
            <a:r>
              <a:t>All code, benchmarks, and investigation docs: github.com/hfwen0502/qiskit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